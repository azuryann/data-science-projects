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6" r:id="rId1"/>
    <p:sldMasterId id="2147483778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3" r:id="rId7"/>
    <p:sldId id="261" r:id="rId8"/>
    <p:sldId id="260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7B4"/>
    <a:srgbClr val="9467BD"/>
    <a:srgbClr val="82BFAA"/>
    <a:srgbClr val="5F8EEB"/>
    <a:srgbClr val="465674"/>
    <a:srgbClr val="497389"/>
    <a:srgbClr val="8C564B"/>
    <a:srgbClr val="2CA02C"/>
    <a:srgbClr val="FF7F0E"/>
    <a:srgbClr val="D62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38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Rappeler l’objectif: faisabilité d’un module de suggestion/auto-complétion.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 : finalité utilisateur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Échantillon final + exclusions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767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4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63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7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1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0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2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285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6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475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57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05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61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3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30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678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34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599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94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19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7839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2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07869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90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887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6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86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97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0536" y="4721901"/>
            <a:ext cx="5943600" cy="1850744"/>
          </a:xfrm>
        </p:spPr>
        <p:txBody>
          <a:bodyPr>
            <a:normAutofit fontScale="90000"/>
          </a:bodyPr>
          <a:lstStyle/>
          <a:p>
            <a:r>
              <a:rPr sz="4800" dirty="0" err="1"/>
              <a:t>Préparation</a:t>
            </a:r>
            <a:r>
              <a:rPr sz="4800" dirty="0"/>
              <a:t> de données pour Santé </a:t>
            </a:r>
            <a:r>
              <a:rPr sz="4800" dirty="0" err="1"/>
              <a:t>publique</a:t>
            </a:r>
            <a:r>
              <a:rPr sz="4800" dirty="0"/>
              <a:t> France</a:t>
            </a:r>
            <a:r>
              <a:rPr lang="fr-FR" sz="4800" dirty="0"/>
              <a:t> </a:t>
            </a:r>
            <a:r>
              <a:rPr lang="fr-FR" sz="2700" dirty="0"/>
              <a:t>(Open Food </a:t>
            </a:r>
            <a:r>
              <a:rPr lang="fr-FR" sz="2700" dirty="0" err="1"/>
              <a:t>Facts</a:t>
            </a:r>
            <a:r>
              <a:rPr lang="fr-FR" sz="2700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A7AD7EB-15FC-1979-0A1D-8180BF09B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595" y="883281"/>
            <a:ext cx="1872810" cy="292626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D109AA7-3982-2EA0-109F-E68C2C3F8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4895941"/>
            <a:ext cx="1502664" cy="1502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Contexte</a:t>
            </a:r>
            <a:r>
              <a:rPr dirty="0"/>
              <a:t> &amp; mission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19ED213-3AEC-766A-9A07-63E04A3ACF72}"/>
              </a:ext>
            </a:extLst>
          </p:cNvPr>
          <p:cNvSpPr txBox="1"/>
          <p:nvPr/>
        </p:nvSpPr>
        <p:spPr>
          <a:xfrm>
            <a:off x="740060" y="1128982"/>
            <a:ext cx="10377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C3C3C"/>
                </a:solidFill>
              </a:defRPr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Accélérer et fiabiliser la saisie Open Food </a:t>
            </a:r>
            <a:r>
              <a:rPr lang="fr-FR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Facts</a:t>
            </a: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grâce à la suggestion automatique</a:t>
            </a:r>
          </a:p>
        </p:txBody>
      </p:sp>
      <p:sp>
        <p:nvSpPr>
          <p:cNvPr id="41" name="Rounded Rectangle 4">
            <a:extLst>
              <a:ext uri="{FF2B5EF4-FFF2-40B4-BE49-F238E27FC236}">
                <a16:creationId xmlns:a16="http://schemas.microsoft.com/office/drawing/2014/main" id="{DB645434-5793-E6C1-F20C-3290D9C690B8}"/>
              </a:ext>
            </a:extLst>
          </p:cNvPr>
          <p:cNvSpPr/>
          <p:nvPr/>
        </p:nvSpPr>
        <p:spPr>
          <a:xfrm>
            <a:off x="1783299" y="1828800"/>
            <a:ext cx="4023360" cy="2926080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endParaRPr lang="fr-FR" dirty="0"/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6B0FF8FD-B054-95C7-4BAE-0760FB7F84E4}"/>
              </a:ext>
            </a:extLst>
          </p:cNvPr>
          <p:cNvSpPr/>
          <p:nvPr/>
        </p:nvSpPr>
        <p:spPr>
          <a:xfrm>
            <a:off x="5989539" y="1828800"/>
            <a:ext cx="4023360" cy="2926080"/>
          </a:xfrm>
          <a:prstGeom prst="round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rgbClr val="BE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fr-F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ounded Rectangle 6">
            <a:extLst>
              <a:ext uri="{FF2B5EF4-FFF2-40B4-BE49-F238E27FC236}">
                <a16:creationId xmlns:a16="http://schemas.microsoft.com/office/drawing/2014/main" id="{612ADECE-7FA3-97AB-9559-89C53630D867}"/>
              </a:ext>
            </a:extLst>
          </p:cNvPr>
          <p:cNvSpPr/>
          <p:nvPr/>
        </p:nvSpPr>
        <p:spPr>
          <a:xfrm>
            <a:off x="1783299" y="5029200"/>
            <a:ext cx="1325880" cy="594360"/>
          </a:xfrm>
          <a:prstGeom prst="roundRect">
            <a:avLst/>
          </a:prstGeom>
          <a:solidFill>
            <a:srgbClr val="E6F5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>
                <a:solidFill>
                  <a:schemeClr val="bg1"/>
                </a:solidFill>
              </a:rPr>
              <a:t>Ingestion</a:t>
            </a:r>
          </a:p>
        </p:txBody>
      </p:sp>
      <p:sp>
        <p:nvSpPr>
          <p:cNvPr id="44" name="Rounded Rectangle 7">
            <a:extLst>
              <a:ext uri="{FF2B5EF4-FFF2-40B4-BE49-F238E27FC236}">
                <a16:creationId xmlns:a16="http://schemas.microsoft.com/office/drawing/2014/main" id="{22ED3142-2EF3-1EE2-5973-5266300BD23B}"/>
              </a:ext>
            </a:extLst>
          </p:cNvPr>
          <p:cNvSpPr/>
          <p:nvPr/>
        </p:nvSpPr>
        <p:spPr>
          <a:xfrm>
            <a:off x="3200619" y="5029200"/>
            <a:ext cx="1325880" cy="594360"/>
          </a:xfrm>
          <a:prstGeom prst="roundRect">
            <a:avLst/>
          </a:prstGeom>
          <a:solidFill>
            <a:srgbClr val="DCF0D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 err="1">
                <a:solidFill>
                  <a:schemeClr val="bg1"/>
                </a:solidFill>
              </a:rPr>
              <a:t>Nettoyage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5" name="Rounded Rectangle 8">
            <a:extLst>
              <a:ext uri="{FF2B5EF4-FFF2-40B4-BE49-F238E27FC236}">
                <a16:creationId xmlns:a16="http://schemas.microsoft.com/office/drawing/2014/main" id="{591EA119-53E9-ABBA-7632-F953876B1D8C}"/>
              </a:ext>
            </a:extLst>
          </p:cNvPr>
          <p:cNvSpPr/>
          <p:nvPr/>
        </p:nvSpPr>
        <p:spPr>
          <a:xfrm>
            <a:off x="4617939" y="5029200"/>
            <a:ext cx="1325880" cy="594360"/>
          </a:xfrm>
          <a:prstGeom prst="roundRect">
            <a:avLst/>
          </a:prstGeom>
          <a:solidFill>
            <a:srgbClr val="FAEBD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>
                <a:solidFill>
                  <a:schemeClr val="bg1"/>
                </a:solidFill>
              </a:rPr>
              <a:t>Contrôles</a:t>
            </a:r>
          </a:p>
        </p:txBody>
      </p:sp>
      <p:sp>
        <p:nvSpPr>
          <p:cNvPr id="46" name="Rounded Rectangle 9">
            <a:extLst>
              <a:ext uri="{FF2B5EF4-FFF2-40B4-BE49-F238E27FC236}">
                <a16:creationId xmlns:a16="http://schemas.microsoft.com/office/drawing/2014/main" id="{B4E6AB90-7EFB-DB72-8E67-5D7F894A9DE4}"/>
              </a:ext>
            </a:extLst>
          </p:cNvPr>
          <p:cNvSpPr/>
          <p:nvPr/>
        </p:nvSpPr>
        <p:spPr>
          <a:xfrm>
            <a:off x="6035259" y="5029200"/>
            <a:ext cx="1325880" cy="594360"/>
          </a:xfrm>
          <a:prstGeom prst="roundRect">
            <a:avLst/>
          </a:prstGeom>
          <a:solidFill>
            <a:srgbClr val="F0E1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>
                <a:solidFill>
                  <a:schemeClr val="bg1"/>
                </a:solidFill>
              </a:rPr>
              <a:t>Imputation</a:t>
            </a:r>
          </a:p>
        </p:txBody>
      </p:sp>
      <p:sp>
        <p:nvSpPr>
          <p:cNvPr id="47" name="Rounded Rectangle 10">
            <a:extLst>
              <a:ext uri="{FF2B5EF4-FFF2-40B4-BE49-F238E27FC236}">
                <a16:creationId xmlns:a16="http://schemas.microsoft.com/office/drawing/2014/main" id="{02E6CBEF-CBCA-86E6-F9DC-41EE4615E391}"/>
              </a:ext>
            </a:extLst>
          </p:cNvPr>
          <p:cNvSpPr/>
          <p:nvPr/>
        </p:nvSpPr>
        <p:spPr>
          <a:xfrm>
            <a:off x="7452579" y="5029200"/>
            <a:ext cx="1325880" cy="594360"/>
          </a:xfrm>
          <a:prstGeom prst="roundRect">
            <a:avLst/>
          </a:prstGeom>
          <a:solidFill>
            <a:srgbClr val="E6E6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>
                <a:solidFill>
                  <a:schemeClr val="bg1"/>
                </a:solidFill>
              </a:rPr>
              <a:t>Analyses</a:t>
            </a:r>
          </a:p>
        </p:txBody>
      </p:sp>
      <p:sp>
        <p:nvSpPr>
          <p:cNvPr id="48" name="Rounded Rectangle 11">
            <a:extLst>
              <a:ext uri="{FF2B5EF4-FFF2-40B4-BE49-F238E27FC236}">
                <a16:creationId xmlns:a16="http://schemas.microsoft.com/office/drawing/2014/main" id="{9429D026-D2CB-EB7A-BEE3-7976D4BE9EF3}"/>
              </a:ext>
            </a:extLst>
          </p:cNvPr>
          <p:cNvSpPr/>
          <p:nvPr/>
        </p:nvSpPr>
        <p:spPr>
          <a:xfrm>
            <a:off x="8869899" y="5029200"/>
            <a:ext cx="1325880" cy="594360"/>
          </a:xfrm>
          <a:prstGeom prst="roundRect">
            <a:avLst/>
          </a:prstGeom>
          <a:solidFill>
            <a:srgbClr val="FFF0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>
                <a:solidFill>
                  <a:schemeClr val="bg1"/>
                </a:solidFill>
              </a:rPr>
              <a:t>Suggestions</a:t>
            </a:r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D0AB8A05-62F8-3DD2-88E3-455715F603A0}"/>
              </a:ext>
            </a:extLst>
          </p:cNvPr>
          <p:cNvSpPr txBox="1"/>
          <p:nvPr/>
        </p:nvSpPr>
        <p:spPr>
          <a:xfrm>
            <a:off x="1783299" y="5760720"/>
            <a:ext cx="275908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Critères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de succès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200" b="1" dirty="0">
                <a:latin typeface="Arial" panose="020B0604020202020204" pitchFamily="34" charset="0"/>
              </a:rPr>
              <a:t>Complétude ↑</a:t>
            </a:r>
            <a:r>
              <a:rPr lang="fr-FR" altLang="fr-FR" sz="1200" dirty="0">
                <a:latin typeface="Arial" panose="020B0604020202020204" pitchFamily="34" charset="0"/>
              </a:rPr>
              <a:t> sur les champs clés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200" b="1" dirty="0">
                <a:latin typeface="Arial" panose="020B0604020202020204" pitchFamily="34" charset="0"/>
              </a:rPr>
              <a:t>Erreurs ↓</a:t>
            </a:r>
            <a:r>
              <a:rPr lang="fr-FR" altLang="fr-FR" sz="1200" dirty="0">
                <a:latin typeface="Arial" panose="020B0604020202020204" pitchFamily="34" charset="0"/>
              </a:rPr>
              <a:t> (cohérences respectées)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200" b="1" dirty="0">
                <a:latin typeface="Arial" panose="020B0604020202020204" pitchFamily="34" charset="0"/>
              </a:rPr>
              <a:t>Temps de saisie ↓</a:t>
            </a:r>
            <a:endParaRPr lang="fr-FR" altLang="fr-FR" sz="1200" dirty="0">
              <a:latin typeface="Arial" panose="020B0604020202020204" pitchFamily="34" charset="0"/>
            </a:endParaRPr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07A62D3F-A0B6-EA2D-1EEA-6F1388A0D033}"/>
              </a:ext>
            </a:extLst>
          </p:cNvPr>
          <p:cNvSpPr txBox="1"/>
          <p:nvPr/>
        </p:nvSpPr>
        <p:spPr>
          <a:xfrm>
            <a:off x="5431755" y="5760720"/>
            <a:ext cx="489428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Périmètre &amp; contraintes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: nutriments + catégories PNNS.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Vie privée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pas de données perso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RGPD OK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Attendus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: solution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explicable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, basée sur des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règles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, et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réactive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4" name="Rectangle 4">
            <a:extLst>
              <a:ext uri="{FF2B5EF4-FFF2-40B4-BE49-F238E27FC236}">
                <a16:creationId xmlns:a16="http://schemas.microsoft.com/office/drawing/2014/main" id="{51ECF663-EA1C-B31F-74CB-0E3B9FAF2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012" y="2319800"/>
            <a:ext cx="3501933" cy="1760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Irritants actuels</a:t>
            </a:r>
            <a:endParaRPr kumimoji="0" lang="fr-FR" altLang="fr-F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400" b="1" dirty="0">
                <a:latin typeface="Arial" panose="020B0604020202020204" pitchFamily="34" charset="0"/>
              </a:rPr>
              <a:t>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Saisie lourde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erreurs et lenteur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Incohérences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(sel/sodium, unités)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Manquants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nombreux sur variables clés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Doublons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produits “quasi identiques”</a:t>
            </a:r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54F88AFD-3D24-CCC0-9C7C-29988A3C5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811" y="2181300"/>
            <a:ext cx="3762647" cy="208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Solution proposée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400" b="1" dirty="0">
                <a:latin typeface="Arial" panose="020B0604020202020204" pitchFamily="34" charset="0"/>
              </a:rPr>
              <a:t> </a:t>
            </a:r>
            <a:r>
              <a:rPr lang="fr-F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Auto-complétion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des champs clés 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 Règles métier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(ex. 1 g sel = 0,4 g sodium)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Pipeline ré-exécutable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robuste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Suivi continu de la qualité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: complétude, cohérence, alertes d’anomalies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Données &amp; </a:t>
            </a:r>
            <a:r>
              <a:rPr dirty="0" err="1"/>
              <a:t>cible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49913-8709-B493-443F-AC4BB663D2BF}"/>
              </a:ext>
            </a:extLst>
          </p:cNvPr>
          <p:cNvSpPr/>
          <p:nvPr/>
        </p:nvSpPr>
        <p:spPr>
          <a:xfrm>
            <a:off x="859536" y="1389888"/>
            <a:ext cx="4178808" cy="485851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800" b="1"/>
            </a:pPr>
            <a:r>
              <a:rPr lang="fr-FR" dirty="0"/>
              <a:t>Source (Open Food </a:t>
            </a:r>
            <a:r>
              <a:rPr lang="fr-FR" dirty="0" err="1"/>
              <a:t>Facts</a:t>
            </a:r>
            <a:r>
              <a:rPr lang="fr-FR" dirty="0"/>
              <a:t>)</a:t>
            </a:r>
          </a:p>
          <a:p>
            <a:pPr algn="ctr">
              <a:lnSpc>
                <a:spcPct val="150000"/>
              </a:lnSpc>
              <a:defRPr sz="1800" b="1"/>
            </a:pPr>
            <a:endParaRPr lang="fr-FR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Jeu </a:t>
            </a:r>
            <a:r>
              <a:rPr lang="fr-FR" b="1" dirty="0">
                <a:solidFill>
                  <a:schemeClr val="tx1"/>
                </a:solidFill>
              </a:rPr>
              <a:t>de données public</a:t>
            </a:r>
            <a:r>
              <a:rPr lang="fr-FR" dirty="0">
                <a:solidFill>
                  <a:schemeClr val="tx1"/>
                </a:solidFill>
              </a:rPr>
              <a:t> d’</a:t>
            </a:r>
            <a:r>
              <a:rPr lang="fr-FR" i="1" dirty="0">
                <a:solidFill>
                  <a:schemeClr val="tx1"/>
                </a:solidFill>
              </a:rPr>
              <a:t>Open Food </a:t>
            </a:r>
            <a:r>
              <a:rPr lang="fr-FR" i="1" dirty="0" err="1">
                <a:solidFill>
                  <a:schemeClr val="tx1"/>
                </a:solidFill>
              </a:rPr>
              <a:t>Facts</a:t>
            </a:r>
            <a:r>
              <a:rPr lang="fr-FR" dirty="0">
                <a:solidFill>
                  <a:schemeClr val="tx1"/>
                </a:solidFill>
              </a:rPr>
              <a:t>, sous forme de fichier </a:t>
            </a:r>
            <a:r>
              <a:rPr lang="fr-FR" b="1" dirty="0">
                <a:solidFill>
                  <a:schemeClr val="tx1"/>
                </a:solidFill>
              </a:rPr>
              <a:t>CSV</a:t>
            </a:r>
            <a:r>
              <a:rPr lang="fr-FR" dirty="0">
                <a:solidFill>
                  <a:schemeClr val="tx1"/>
                </a:solidFill>
              </a:rPr>
              <a:t> ou </a:t>
            </a:r>
            <a:r>
              <a:rPr lang="fr-FR" b="1" dirty="0">
                <a:solidFill>
                  <a:schemeClr val="tx1"/>
                </a:solidFill>
              </a:rPr>
              <a:t>JSON</a:t>
            </a:r>
            <a:endParaRPr lang="fr-FR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Valeurs nutritionnelles exprimées pour 100 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Chaque produit étiqueté avec des catégories PNNS (grands groupes « </a:t>
            </a:r>
            <a:r>
              <a:rPr lang="fr-FR" dirty="0" err="1">
                <a:solidFill>
                  <a:schemeClr val="tx1"/>
                </a:solidFill>
              </a:rPr>
              <a:t>niv</a:t>
            </a:r>
            <a:r>
              <a:rPr lang="fr-FR" dirty="0">
                <a:solidFill>
                  <a:schemeClr val="tx1"/>
                </a:solidFill>
              </a:rPr>
              <a:t> 1 » et sous-groupes « </a:t>
            </a:r>
            <a:r>
              <a:rPr lang="fr-FR" dirty="0" err="1">
                <a:solidFill>
                  <a:schemeClr val="tx1"/>
                </a:solidFill>
              </a:rPr>
              <a:t>niv</a:t>
            </a:r>
            <a:r>
              <a:rPr lang="fr-FR" dirty="0">
                <a:solidFill>
                  <a:schemeClr val="tx1"/>
                </a:solidFill>
              </a:rPr>
              <a:t> 2 »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Champs texte décrivant le produit (nom, description…)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Traçabilité : métadonnées du dump conservées (date, version, nb lignes…)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2B6B20-08B5-DB04-0ED6-F0C913A387A3}"/>
              </a:ext>
            </a:extLst>
          </p:cNvPr>
          <p:cNvSpPr/>
          <p:nvPr/>
        </p:nvSpPr>
        <p:spPr>
          <a:xfrm>
            <a:off x="5321808" y="1389888"/>
            <a:ext cx="5858256" cy="1780032"/>
          </a:xfrm>
          <a:prstGeom prst="rect">
            <a:avLst/>
          </a:prstGeom>
          <a:noFill/>
          <a:ln w="38100" cap="flat" cmpd="sng" algn="ctr">
            <a:solidFill>
              <a:srgbClr val="84C6A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800" b="1"/>
            </a:pPr>
            <a:r>
              <a:rPr lang="fr-FR" dirty="0">
                <a:solidFill>
                  <a:srgbClr val="84C6AD"/>
                </a:solidFill>
              </a:rPr>
              <a:t>Cible retenue : pnns_groups_1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Grandes familles PNNS (9–10 catégories)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Choix : lisible pour l’usager, prédictible via nutriments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>
                <a:solidFill>
                  <a:schemeClr val="tx1"/>
                </a:solidFill>
              </a:rPr>
              <a:t>Critères de sélection : complétude &gt; 50%, nombre d’individus 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A16E0F-313B-D0AA-E48A-1A7BEF0D1323}"/>
              </a:ext>
            </a:extLst>
          </p:cNvPr>
          <p:cNvSpPr/>
          <p:nvPr/>
        </p:nvSpPr>
        <p:spPr>
          <a:xfrm>
            <a:off x="5321808" y="3429000"/>
            <a:ext cx="5858256" cy="2819400"/>
          </a:xfrm>
          <a:prstGeom prst="rect">
            <a:avLst/>
          </a:prstGeom>
          <a:noFill/>
          <a:ln w="38100" cap="flat" cmpd="sng" algn="ctr">
            <a:solidFill>
              <a:srgbClr val="5F8EEB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fr-FR" dirty="0" err="1">
                <a:solidFill>
                  <a:srgbClr val="5F8EEB"/>
                </a:solidFill>
              </a:rPr>
              <a:t>Features</a:t>
            </a:r>
            <a:r>
              <a:rPr lang="fr-FR" dirty="0">
                <a:solidFill>
                  <a:srgbClr val="5F8EEB"/>
                </a:solidFill>
              </a:rPr>
              <a:t> explicatives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 err="1">
                <a:solidFill>
                  <a:schemeClr val="tx1"/>
                </a:solidFill>
              </a:rPr>
              <a:t>product_name</a:t>
            </a:r>
            <a:r>
              <a:rPr lang="fr-FR" b="1" dirty="0">
                <a:solidFill>
                  <a:schemeClr val="tx1"/>
                </a:solidFill>
              </a:rPr>
              <a:t> …………………………………………………………………………</a:t>
            </a:r>
            <a:r>
              <a:rPr lang="fr-FR" dirty="0">
                <a:solidFill>
                  <a:schemeClr val="tx1"/>
                </a:solidFill>
              </a:rPr>
              <a:t> Nom du produit (texte)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 err="1">
                <a:solidFill>
                  <a:schemeClr val="tx1"/>
                </a:solidFill>
              </a:rPr>
              <a:t>generic_name</a:t>
            </a:r>
            <a:r>
              <a:rPr lang="fr-FR" b="1" dirty="0">
                <a:solidFill>
                  <a:schemeClr val="tx1"/>
                </a:solidFill>
              </a:rPr>
              <a:t> ………………………………………………………………………….</a:t>
            </a:r>
            <a:r>
              <a:rPr lang="fr-FR" dirty="0">
                <a:solidFill>
                  <a:schemeClr val="tx1"/>
                </a:solidFill>
              </a:rPr>
              <a:t> Nom générique (texte)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energy_100g …………………………………………………………………………………….</a:t>
            </a:r>
            <a:r>
              <a:rPr lang="fr-FR" dirty="0">
                <a:solidFill>
                  <a:schemeClr val="tx1"/>
                </a:solidFill>
              </a:rPr>
              <a:t> Énergie (kJ/100g)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fat_100g ……………………………………………………………………………………………..</a:t>
            </a:r>
            <a:r>
              <a:rPr lang="fr-FR" dirty="0">
                <a:solidFill>
                  <a:schemeClr val="tx1"/>
                </a:solidFill>
              </a:rPr>
              <a:t> Lipides (g/100g)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saturated-fat_100g ………………………………………………………….</a:t>
            </a:r>
            <a:r>
              <a:rPr lang="fr-FR" dirty="0">
                <a:solidFill>
                  <a:schemeClr val="tx1"/>
                </a:solidFill>
              </a:rPr>
              <a:t> Acides gras saturés (g/100g)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carbohydrates_100g …………………………………………………………………………</a:t>
            </a:r>
            <a:r>
              <a:rPr lang="fr-FR" dirty="0">
                <a:solidFill>
                  <a:schemeClr val="tx1"/>
                </a:solidFill>
              </a:rPr>
              <a:t> Glucides (g/100g)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sugars_100g ………………………………………………………………………………………….</a:t>
            </a:r>
            <a:r>
              <a:rPr lang="fr-FR" dirty="0">
                <a:solidFill>
                  <a:schemeClr val="tx1"/>
                </a:solidFill>
              </a:rPr>
              <a:t> Sucres (g/100g)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proteins_100g ………………………………………………………………………………...</a:t>
            </a:r>
            <a:r>
              <a:rPr lang="fr-FR" dirty="0">
                <a:solidFill>
                  <a:schemeClr val="tx1"/>
                </a:solidFill>
              </a:rPr>
              <a:t> Protéines (g/100g)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salt_100g …………………………………………………………………………………………………….</a:t>
            </a:r>
            <a:r>
              <a:rPr lang="fr-FR" dirty="0">
                <a:solidFill>
                  <a:schemeClr val="tx1"/>
                </a:solidFill>
              </a:rPr>
              <a:t> Sel (g/100g)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sodium_100g ……………………………………………………………………………………….</a:t>
            </a:r>
            <a:r>
              <a:rPr lang="fr-FR" dirty="0">
                <a:solidFill>
                  <a:schemeClr val="tx1"/>
                </a:solidFill>
              </a:rPr>
              <a:t> Sodium (g/100g)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>
                <a:solidFill>
                  <a:schemeClr val="tx1"/>
                </a:solidFill>
              </a:rPr>
              <a:t>nutrition-score-fr_100g ……………………………………………….</a:t>
            </a:r>
            <a:r>
              <a:rPr lang="fr-FR" dirty="0">
                <a:solidFill>
                  <a:schemeClr val="tx1"/>
                </a:solidFill>
              </a:rPr>
              <a:t> Score nutritionnel (pour 100 g)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 err="1">
                <a:solidFill>
                  <a:schemeClr val="tx1"/>
                </a:solidFill>
              </a:rPr>
              <a:t>additives_n</a:t>
            </a:r>
            <a:r>
              <a:rPr lang="fr-FR" b="1" dirty="0">
                <a:solidFill>
                  <a:schemeClr val="tx1"/>
                </a:solidFill>
              </a:rPr>
              <a:t> ………………………………………………………………………………..</a:t>
            </a:r>
            <a:r>
              <a:rPr lang="fr-FR" dirty="0">
                <a:solidFill>
                  <a:schemeClr val="tx1"/>
                </a:solidFill>
              </a:rPr>
              <a:t> Nombre d’additifs (nb)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dirty="0" err="1">
                <a:solidFill>
                  <a:schemeClr val="tx1"/>
                </a:solidFill>
              </a:rPr>
              <a:t>i</a:t>
            </a:r>
            <a:r>
              <a:rPr lang="fr-FR" b="1" dirty="0" err="1">
                <a:solidFill>
                  <a:schemeClr val="tx1"/>
                </a:solidFill>
              </a:rPr>
              <a:t>ngredients_from_palm_oil_n</a:t>
            </a:r>
            <a:r>
              <a:rPr lang="fr-FR" b="1" dirty="0">
                <a:solidFill>
                  <a:schemeClr val="tx1"/>
                </a:solidFill>
              </a:rPr>
              <a:t> …………………………………….</a:t>
            </a:r>
            <a:r>
              <a:rPr lang="fr-FR" dirty="0">
                <a:solidFill>
                  <a:schemeClr val="tx1"/>
                </a:solidFill>
              </a:rPr>
              <a:t> Ingrédients issus de palme (nb)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/>
            </a:pPr>
            <a:r>
              <a:rPr lang="fr-FR" b="1" dirty="0" err="1">
                <a:solidFill>
                  <a:schemeClr val="tx1"/>
                </a:solidFill>
              </a:rPr>
              <a:t>ingredients_that_may_be_from_palm_oil_n</a:t>
            </a:r>
            <a:r>
              <a:rPr lang="fr-FR" b="1" dirty="0">
                <a:solidFill>
                  <a:schemeClr val="tx1"/>
                </a:solidFill>
              </a:rPr>
              <a:t> ……</a:t>
            </a:r>
            <a:r>
              <a:rPr lang="fr-FR" dirty="0">
                <a:solidFill>
                  <a:schemeClr val="tx1"/>
                </a:solidFill>
              </a:rPr>
              <a:t> Ingrédients possiblement palme (nb)</a:t>
            </a:r>
          </a:p>
        </p:txBody>
      </p:sp>
      <p:sp>
        <p:nvSpPr>
          <p:cNvPr id="10" name="Organigramme : Extraire 9">
            <a:extLst>
              <a:ext uri="{FF2B5EF4-FFF2-40B4-BE49-F238E27FC236}">
                <a16:creationId xmlns:a16="http://schemas.microsoft.com/office/drawing/2014/main" id="{86E047FF-2A0C-72F6-DB78-C2FEC5528998}"/>
              </a:ext>
            </a:extLst>
          </p:cNvPr>
          <p:cNvSpPr/>
          <p:nvPr/>
        </p:nvSpPr>
        <p:spPr>
          <a:xfrm rot="5400000">
            <a:off x="5044381" y="4759795"/>
            <a:ext cx="283464" cy="138560"/>
          </a:xfrm>
          <a:prstGeom prst="flowChartExtract">
            <a:avLst/>
          </a:prstGeom>
          <a:solidFill>
            <a:srgbClr val="5F8EEB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Organigramme : Extraire 10">
            <a:extLst>
              <a:ext uri="{FF2B5EF4-FFF2-40B4-BE49-F238E27FC236}">
                <a16:creationId xmlns:a16="http://schemas.microsoft.com/office/drawing/2014/main" id="{E2B958A3-D087-770B-AC30-4301681F6B63}"/>
              </a:ext>
            </a:extLst>
          </p:cNvPr>
          <p:cNvSpPr/>
          <p:nvPr/>
        </p:nvSpPr>
        <p:spPr>
          <a:xfrm rot="5400000">
            <a:off x="5044381" y="2197416"/>
            <a:ext cx="283464" cy="138560"/>
          </a:xfrm>
          <a:prstGeom prst="flowChartExtract">
            <a:avLst/>
          </a:prstGeom>
          <a:solidFill>
            <a:srgbClr val="84C6A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 descr="Liste avec un remplissage uni">
            <a:extLst>
              <a:ext uri="{FF2B5EF4-FFF2-40B4-BE49-F238E27FC236}">
                <a16:creationId xmlns:a16="http://schemas.microsoft.com/office/drawing/2014/main" id="{1E1575E0-0113-3F6E-44AB-EBC831F40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0850" y="1445659"/>
            <a:ext cx="775597" cy="7755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Pipeline de </a:t>
            </a:r>
            <a:r>
              <a:rPr dirty="0" err="1"/>
              <a:t>nettoyage</a:t>
            </a:r>
            <a:r>
              <a:rPr dirty="0"/>
              <a:t> (</a:t>
            </a:r>
            <a:r>
              <a:rPr dirty="0" err="1"/>
              <a:t>vue</a:t>
            </a:r>
            <a:r>
              <a:rPr dirty="0"/>
              <a:t> </a:t>
            </a:r>
            <a:r>
              <a:rPr dirty="0" err="1"/>
              <a:t>d’ensemble</a:t>
            </a:r>
            <a:r>
              <a:rPr dirty="0"/>
              <a:t>)</a:t>
            </a:r>
          </a:p>
        </p:txBody>
      </p:sp>
      <p:sp>
        <p:nvSpPr>
          <p:cNvPr id="7" name="Flèche : pentagone 6">
            <a:extLst>
              <a:ext uri="{FF2B5EF4-FFF2-40B4-BE49-F238E27FC236}">
                <a16:creationId xmlns:a16="http://schemas.microsoft.com/office/drawing/2014/main" id="{2791E998-DBE0-2CF7-9E22-F6167A8BCEFB}"/>
              </a:ext>
            </a:extLst>
          </p:cNvPr>
          <p:cNvSpPr/>
          <p:nvPr/>
        </p:nvSpPr>
        <p:spPr>
          <a:xfrm>
            <a:off x="868134" y="2380364"/>
            <a:ext cx="3570516" cy="3037114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chevron 7">
            <a:extLst>
              <a:ext uri="{FF2B5EF4-FFF2-40B4-BE49-F238E27FC236}">
                <a16:creationId xmlns:a16="http://schemas.microsoft.com/office/drawing/2014/main" id="{63F968BB-9401-F9C9-3999-5195733B46B5}"/>
              </a:ext>
            </a:extLst>
          </p:cNvPr>
          <p:cNvSpPr/>
          <p:nvPr/>
        </p:nvSpPr>
        <p:spPr>
          <a:xfrm>
            <a:off x="7860846" y="2380348"/>
            <a:ext cx="3570516" cy="3037115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Flèche : chevron 8">
            <a:extLst>
              <a:ext uri="{FF2B5EF4-FFF2-40B4-BE49-F238E27FC236}">
                <a16:creationId xmlns:a16="http://schemas.microsoft.com/office/drawing/2014/main" id="{6BF8528B-08F7-19D2-99F8-3CEE96703AF3}"/>
              </a:ext>
            </a:extLst>
          </p:cNvPr>
          <p:cNvSpPr/>
          <p:nvPr/>
        </p:nvSpPr>
        <p:spPr>
          <a:xfrm>
            <a:off x="3199038" y="2380358"/>
            <a:ext cx="3570516" cy="3037115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Flèche : chevron 9">
            <a:extLst>
              <a:ext uri="{FF2B5EF4-FFF2-40B4-BE49-F238E27FC236}">
                <a16:creationId xmlns:a16="http://schemas.microsoft.com/office/drawing/2014/main" id="{15E34042-55F0-4EE2-3953-99FC8BE8BA98}"/>
              </a:ext>
            </a:extLst>
          </p:cNvPr>
          <p:cNvSpPr/>
          <p:nvPr/>
        </p:nvSpPr>
        <p:spPr>
          <a:xfrm>
            <a:off x="5529942" y="2380348"/>
            <a:ext cx="3570516" cy="3037115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1" name="Graphique 10" descr="Graphique à barres avec tendance à la baisse avec un remplissage uni">
            <a:extLst>
              <a:ext uri="{FF2B5EF4-FFF2-40B4-BE49-F238E27FC236}">
                <a16:creationId xmlns:a16="http://schemas.microsoft.com/office/drawing/2014/main" id="{F420D5CE-E97F-AA86-0782-904807BEC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1753" y="1445660"/>
            <a:ext cx="775597" cy="775597"/>
          </a:xfrm>
          <a:prstGeom prst="rect">
            <a:avLst/>
          </a:prstGeom>
        </p:spPr>
      </p:pic>
      <p:pic>
        <p:nvPicPr>
          <p:cNvPr id="12" name="Graphique 11" descr="Coche avec un remplissage uni">
            <a:extLst>
              <a:ext uri="{FF2B5EF4-FFF2-40B4-BE49-F238E27FC236}">
                <a16:creationId xmlns:a16="http://schemas.microsoft.com/office/drawing/2014/main" id="{9466C061-FD19-2DEF-5566-FBA9DABA90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2659" y="1445658"/>
            <a:ext cx="775597" cy="775597"/>
          </a:xfrm>
          <a:prstGeom prst="rect">
            <a:avLst/>
          </a:prstGeom>
        </p:spPr>
      </p:pic>
      <p:pic>
        <p:nvPicPr>
          <p:cNvPr id="14" name="Graphique 13" descr="Panneau d’interdiction avec un remplissage uni">
            <a:extLst>
              <a:ext uri="{FF2B5EF4-FFF2-40B4-BE49-F238E27FC236}">
                <a16:creationId xmlns:a16="http://schemas.microsoft.com/office/drawing/2014/main" id="{7F59EDF3-7F46-5056-A537-021E7EE121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9947" y="1445657"/>
            <a:ext cx="775597" cy="77559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6848A03-BD35-4DF7-7D37-F2EE7CBE5543}"/>
              </a:ext>
            </a:extLst>
          </p:cNvPr>
          <p:cNvSpPr txBox="1"/>
          <p:nvPr/>
        </p:nvSpPr>
        <p:spPr>
          <a:xfrm>
            <a:off x="985837" y="2759326"/>
            <a:ext cx="2114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fr-FR" dirty="0"/>
              <a:t>Filtrage initial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5A14729-BF3E-DE1D-1DEF-2343A880C0C4}"/>
              </a:ext>
            </a:extLst>
          </p:cNvPr>
          <p:cNvSpPr txBox="1"/>
          <p:nvPr/>
        </p:nvSpPr>
        <p:spPr>
          <a:xfrm>
            <a:off x="8430981" y="2759326"/>
            <a:ext cx="2114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Automatisation</a:t>
            </a:r>
            <a:endParaRPr lang="fr-FR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B6D61A7-8917-D584-0259-C4D645045508}"/>
              </a:ext>
            </a:extLst>
          </p:cNvPr>
          <p:cNvSpPr txBox="1"/>
          <p:nvPr/>
        </p:nvSpPr>
        <p:spPr>
          <a:xfrm>
            <a:off x="6096000" y="2634220"/>
            <a:ext cx="2197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fr-FR" dirty="0" err="1"/>
              <a:t>Outliers</a:t>
            </a:r>
            <a:r>
              <a:rPr lang="fr-FR" dirty="0"/>
              <a:t> &amp; Manquants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51AE1F9-534E-6577-6CD8-B3225950C9CC}"/>
              </a:ext>
            </a:extLst>
          </p:cNvPr>
          <p:cNvSpPr txBox="1"/>
          <p:nvPr/>
        </p:nvSpPr>
        <p:spPr>
          <a:xfrm>
            <a:off x="3769855" y="2759326"/>
            <a:ext cx="1998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fr-FR" dirty="0"/>
              <a:t>Contrôles métier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6DA9D35-8387-DBF3-8186-8B38E9054C1D}"/>
              </a:ext>
            </a:extLst>
          </p:cNvPr>
          <p:cNvSpPr txBox="1"/>
          <p:nvPr/>
        </p:nvSpPr>
        <p:spPr>
          <a:xfrm>
            <a:off x="985837" y="3371250"/>
            <a:ext cx="27198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fr-FR" sz="1600" dirty="0">
                <a:cs typeface="Arial" panose="020B0604020202020204" pitchFamily="34" charset="0"/>
              </a:rPr>
              <a:t>• </a:t>
            </a:r>
            <a:r>
              <a:rPr lang="fr-FR" altLang="fr-FR" sz="1600" dirty="0">
                <a:cs typeface="Arial" panose="020B0604020202020204" pitchFamily="34" charset="0"/>
              </a:rPr>
              <a:t>Retirer les lignes sans cible </a:t>
            </a:r>
            <a:r>
              <a:rPr lang="fr-FR" altLang="fr-FR" sz="1600" b="1" dirty="0">
                <a:cs typeface="Arial" panose="020B0604020202020204" pitchFamily="34" charset="0"/>
              </a:rPr>
              <a:t>pnns_groups_1</a:t>
            </a:r>
            <a:r>
              <a:rPr lang="fr-FR" altLang="fr-FR" sz="1600" dirty="0">
                <a:cs typeface="Arial" panose="020B0604020202020204" pitchFamily="34" charset="0"/>
              </a:rPr>
              <a:t>.</a:t>
            </a:r>
            <a:endParaRPr lang="fr-FR" sz="1600" dirty="0"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600" b="1" dirty="0">
                <a:cs typeface="Arial" panose="020B0604020202020204" pitchFamily="34" charset="0"/>
              </a:rPr>
              <a:t> Supprimer les doublons produits</a:t>
            </a:r>
            <a:r>
              <a:rPr lang="fr-FR" altLang="fr-FR" sz="1600" dirty="0">
                <a:cs typeface="Arial" panose="020B0604020202020204" pitchFamily="34" charset="0"/>
              </a:rPr>
              <a:t> (même code barre / même quantité de macronutriments).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F02BCA8-E51A-15AA-840D-7C0B047F069F}"/>
              </a:ext>
            </a:extLst>
          </p:cNvPr>
          <p:cNvSpPr txBox="1"/>
          <p:nvPr/>
        </p:nvSpPr>
        <p:spPr>
          <a:xfrm>
            <a:off x="3011945" y="3255542"/>
            <a:ext cx="37576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fr-FR" sz="1600" dirty="0"/>
              <a:t>                     • Bornes &amp; unités                       		               (kJ/100g)</a:t>
            </a:r>
            <a:br>
              <a:rPr lang="fr-FR" sz="1600" dirty="0"/>
            </a:br>
            <a:r>
              <a:rPr lang="fr-FR" sz="1600" dirty="0"/>
              <a:t>                          • Rapports logiques :                      			  sel ≈ 0,4 × sodium</a:t>
            </a:r>
            <a:br>
              <a:rPr lang="fr-FR" sz="1600" dirty="0"/>
            </a:br>
            <a:r>
              <a:rPr lang="fr-FR" sz="1600" dirty="0"/>
              <a:t>                    • Macro : lipides +                		 glucides + protéines             			≤ 100 g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29B63FE-4D7D-0DF8-6959-338540A472D9}"/>
              </a:ext>
            </a:extLst>
          </p:cNvPr>
          <p:cNvSpPr txBox="1"/>
          <p:nvPr/>
        </p:nvSpPr>
        <p:spPr>
          <a:xfrm>
            <a:off x="5811203" y="3297869"/>
            <a:ext cx="34244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fr-FR" sz="1600" dirty="0"/>
              <a:t>	        • </a:t>
            </a:r>
            <a:r>
              <a:rPr lang="fr-FR" sz="1600" dirty="0" err="1"/>
              <a:t>Outliers</a:t>
            </a:r>
            <a:r>
              <a:rPr lang="fr-FR" sz="1600" dirty="0"/>
              <a:t> :</a:t>
            </a:r>
            <a:r>
              <a:rPr lang="fr-FR" altLang="fr-FR" sz="1600" dirty="0">
                <a:latin typeface="Arial" panose="020B0604020202020204" pitchFamily="34" charset="0"/>
              </a:rPr>
              <a:t> </a:t>
            </a:r>
            <a:r>
              <a:rPr lang="fr-FR" altLang="fr-FR" sz="1600" b="1" dirty="0">
                <a:latin typeface="Arial" panose="020B0604020202020204" pitchFamily="34" charset="0"/>
              </a:rPr>
              <a:t>IQR</a:t>
            </a:r>
            <a:r>
              <a:rPr lang="fr-FR" altLang="fr-FR" sz="1600" dirty="0">
                <a:latin typeface="Arial" panose="020B0604020202020204" pitchFamily="34" charset="0"/>
              </a:rPr>
              <a:t> ou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b="1" dirty="0">
                <a:latin typeface="Arial" panose="020B0604020202020204" pitchFamily="34" charset="0"/>
              </a:rPr>
              <a:t>                   Z-score</a:t>
            </a:r>
            <a:r>
              <a:rPr lang="fr-FR" altLang="fr-FR" sz="1600" dirty="0">
                <a:latin typeface="Arial" panose="020B0604020202020204" pitchFamily="34" charset="0"/>
              </a:rPr>
              <a:t>, puis </a:t>
            </a:r>
            <a:r>
              <a:rPr lang="fr-FR" altLang="fr-FR" sz="1600" b="1" dirty="0">
                <a:latin typeface="Arial" panose="020B0604020202020204" pitchFamily="34" charset="0"/>
              </a:rPr>
              <a:t>cap</a:t>
            </a:r>
            <a:r>
              <a:rPr lang="fr-FR" altLang="fr-FR" sz="1600" dirty="0">
                <a:latin typeface="Arial" panose="020B0604020202020204" pitchFamily="34" charset="0"/>
              </a:rPr>
              <a:t> /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b="1" dirty="0">
                <a:latin typeface="Arial" panose="020B0604020202020204" pitchFamily="34" charset="0"/>
              </a:rPr>
              <a:t>                       suppression</a:t>
            </a:r>
            <a:br>
              <a:rPr lang="fr-FR" sz="1600" dirty="0"/>
            </a:br>
            <a:r>
              <a:rPr lang="fr-FR" sz="1600" dirty="0"/>
              <a:t>                   • Manquants :</a:t>
            </a:r>
            <a:endParaRPr lang="fr-FR" sz="1600" dirty="0">
              <a:latin typeface="Arial" panose="020B0604020202020204" pitchFamily="34" charset="0"/>
            </a:endParaRP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b="1" dirty="0">
                <a:latin typeface="Arial" panose="020B0604020202020204" pitchFamily="34" charset="0"/>
              </a:rPr>
              <a:t>                  </a:t>
            </a:r>
            <a:r>
              <a:rPr lang="fr-FR" altLang="fr-FR" sz="1600" b="1" dirty="0" err="1">
                <a:latin typeface="Arial" panose="020B0604020202020204" pitchFamily="34" charset="0"/>
              </a:rPr>
              <a:t>KNNImputer</a:t>
            </a:r>
            <a:r>
              <a:rPr lang="fr-FR" altLang="fr-FR" sz="1600" dirty="0">
                <a:latin typeface="Arial" panose="020B0604020202020204" pitchFamily="34" charset="0"/>
              </a:rPr>
              <a:t>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dirty="0">
                <a:latin typeface="Arial" panose="020B0604020202020204" pitchFamily="34" charset="0"/>
              </a:rPr>
              <a:t>          (voisins similaires)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b="1" dirty="0">
                <a:latin typeface="Arial" panose="020B0604020202020204" pitchFamily="34" charset="0"/>
              </a:rPr>
              <a:t>    par groupe PNNS</a:t>
            </a:r>
            <a:r>
              <a:rPr lang="fr-FR" altLang="fr-FR" sz="1600" dirty="0">
                <a:latin typeface="Arial" panose="020B0604020202020204" pitchFamily="34" charset="0"/>
              </a:rPr>
              <a:t>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endParaRPr lang="fr-FR" sz="16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8F410AB-F0FD-0CF0-A56A-A51443AAC468}"/>
              </a:ext>
            </a:extLst>
          </p:cNvPr>
          <p:cNvSpPr txBox="1"/>
          <p:nvPr/>
        </p:nvSpPr>
        <p:spPr>
          <a:xfrm>
            <a:off x="8043663" y="3371250"/>
            <a:ext cx="36501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</a:t>
            </a:r>
            <a:r>
              <a:rPr lang="fr-FR" sz="1600" dirty="0"/>
              <a:t>• </a:t>
            </a:r>
            <a:r>
              <a:rPr lang="fr-FR" altLang="fr-FR" sz="1600" b="1" dirty="0">
                <a:latin typeface="Arial" panose="020B0604020202020204" pitchFamily="34" charset="0"/>
              </a:rPr>
              <a:t>Scripts modulaires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b="1" dirty="0">
                <a:latin typeface="Arial" panose="020B0604020202020204" pitchFamily="34" charset="0"/>
              </a:rPr>
              <a:t>                      réutilisables</a:t>
            </a:r>
            <a:r>
              <a:rPr lang="fr-FR" altLang="fr-FR" sz="1600" dirty="0">
                <a:latin typeface="Arial" panose="020B0604020202020204" pitchFamily="34" charset="0"/>
              </a:rPr>
              <a:t> (par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dirty="0">
                <a:latin typeface="Arial" panose="020B0604020202020204" pitchFamily="34" charset="0"/>
              </a:rPr>
              <a:t>                     étape du processus)</a:t>
            </a:r>
            <a:br>
              <a:rPr lang="fr-FR" sz="1600" dirty="0"/>
            </a:br>
            <a:r>
              <a:rPr lang="fr-FR" sz="1600" dirty="0"/>
              <a:t>	        • </a:t>
            </a:r>
            <a:r>
              <a:rPr lang="fr-FR" altLang="fr-FR" sz="1600" b="1" dirty="0">
                <a:latin typeface="Arial" panose="020B0604020202020204" pitchFamily="34" charset="0"/>
              </a:rPr>
              <a:t>Ré-exécutable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b="1" dirty="0">
                <a:latin typeface="Arial" panose="020B0604020202020204" pitchFamily="34" charset="0"/>
              </a:rPr>
              <a:t>            sans retouche</a:t>
            </a:r>
            <a:r>
              <a:rPr lang="fr-FR" altLang="fr-FR" sz="1600" dirty="0">
                <a:latin typeface="Arial" panose="020B0604020202020204" pitchFamily="34" charset="0"/>
              </a:rPr>
              <a:t> à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dirty="0">
                <a:latin typeface="Arial" panose="020B0604020202020204" pitchFamily="34" charset="0"/>
              </a:rPr>
              <a:t>        chaque mise à jour 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rPr lang="fr-FR" altLang="fr-FR" sz="1600" dirty="0">
                <a:latin typeface="Arial" panose="020B0604020202020204" pitchFamily="34" charset="0"/>
              </a:rPr>
              <a:t>              de la base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0A003B-1182-386D-7564-7735572E8C8C}"/>
              </a:ext>
            </a:extLst>
          </p:cNvPr>
          <p:cNvSpPr/>
          <p:nvPr/>
        </p:nvSpPr>
        <p:spPr>
          <a:xfrm>
            <a:off x="0" y="5632875"/>
            <a:ext cx="12192000" cy="1225126"/>
          </a:xfrm>
          <a:prstGeom prst="rect">
            <a:avLst/>
          </a:prstGeom>
          <a:solidFill>
            <a:schemeClr val="tx1">
              <a:lumMod val="6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/>
            </a:pPr>
            <a:r>
              <a:rPr lang="fr-FR" dirty="0"/>
              <a:t>Exemples de règles clés</a:t>
            </a: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/>
              <a:t>Sodium ≈ 2,5 × sel (ou sel ≈ 0,4 × sodium)</a:t>
            </a: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/>
              <a:t>Énergie ≤ 4000 kJ / 100 g ; variables en g/100 g entre 0 et 100</a:t>
            </a: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  <a:defRPr sz="1200"/>
            </a:pPr>
            <a:r>
              <a:rPr lang="fr-FR" dirty="0"/>
              <a:t>Contrôle additifs/palme : valeurs entières, non négatives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7E430ACC-B816-1727-FAE6-DB8D9E34C0A1}"/>
              </a:ext>
            </a:extLst>
          </p:cNvPr>
          <p:cNvCxnSpPr/>
          <p:nvPr/>
        </p:nvCxnSpPr>
        <p:spPr>
          <a:xfrm flipV="1">
            <a:off x="6528816" y="5170857"/>
            <a:ext cx="320040" cy="81"/>
          </a:xfrm>
          <a:prstGeom prst="bentConnector3">
            <a:avLst/>
          </a:prstGeom>
          <a:ln w="38100">
            <a:solidFill>
              <a:srgbClr val="84C6A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136E6871-41CC-377C-1504-333CB82372CA}"/>
              </a:ext>
            </a:extLst>
          </p:cNvPr>
          <p:cNvCxnSpPr>
            <a:stCxn id="15" idx="3"/>
          </p:cNvCxnSpPr>
          <p:nvPr/>
        </p:nvCxnSpPr>
        <p:spPr>
          <a:xfrm flipV="1">
            <a:off x="6528816" y="2404872"/>
            <a:ext cx="320040" cy="81"/>
          </a:xfrm>
          <a:prstGeom prst="bentConnector3">
            <a:avLst/>
          </a:prstGeom>
          <a:ln w="38100">
            <a:solidFill>
              <a:srgbClr val="5F8E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4A5A0635-73CF-868E-222A-C57FDBFE7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4" y="1209955"/>
            <a:ext cx="6043042" cy="23899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" y="275500"/>
            <a:ext cx="11744138" cy="662528"/>
          </a:xfrm>
        </p:spPr>
        <p:txBody>
          <a:bodyPr/>
          <a:lstStyle/>
          <a:p>
            <a:pPr algn="ctr"/>
            <a:r>
              <a:rPr dirty="0"/>
              <a:t>Outliers —</a:t>
            </a:r>
            <a:r>
              <a:rPr lang="fr-FR" dirty="0"/>
              <a:t> Application des règles métier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2A56F-7ED8-35AA-2FE8-6C742183EF4C}"/>
              </a:ext>
            </a:extLst>
          </p:cNvPr>
          <p:cNvSpPr/>
          <p:nvPr/>
        </p:nvSpPr>
        <p:spPr>
          <a:xfrm>
            <a:off x="485775" y="3599951"/>
            <a:ext cx="6043040" cy="2560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Box Plots de la distribution des individus pour energie_100g et fat_100g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09F13DF-B189-9924-BB32-BACFE7115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4" y="4203142"/>
            <a:ext cx="6043041" cy="19431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A003767-40D2-F7CC-B434-0684AF71FEEE}"/>
              </a:ext>
            </a:extLst>
          </p:cNvPr>
          <p:cNvSpPr/>
          <p:nvPr/>
        </p:nvSpPr>
        <p:spPr>
          <a:xfrm>
            <a:off x="485773" y="6138652"/>
            <a:ext cx="6043042" cy="2560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Scatter</a:t>
            </a:r>
            <a:r>
              <a:rPr lang="fr-FR" sz="1400" dirty="0">
                <a:solidFill>
                  <a:schemeClr val="tx1"/>
                </a:solidFill>
              </a:rPr>
              <a:t> plots de l’</a:t>
            </a:r>
            <a:r>
              <a:rPr lang="fr-FR" sz="1400" dirty="0" err="1">
                <a:solidFill>
                  <a:schemeClr val="tx1"/>
                </a:solidFill>
              </a:rPr>
              <a:t>intéraction</a:t>
            </a:r>
            <a:r>
              <a:rPr lang="fr-FR" sz="1400" dirty="0">
                <a:solidFill>
                  <a:schemeClr val="tx1"/>
                </a:solidFill>
              </a:rPr>
              <a:t> entre macronutriments et micronutriments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3CF8A09-2A13-188E-1BBB-BDD3360A8CBB}"/>
              </a:ext>
            </a:extLst>
          </p:cNvPr>
          <p:cNvSpPr txBox="1"/>
          <p:nvPr/>
        </p:nvSpPr>
        <p:spPr>
          <a:xfrm>
            <a:off x="5641848" y="297637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5" name="Accolades 24">
            <a:extLst>
              <a:ext uri="{FF2B5EF4-FFF2-40B4-BE49-F238E27FC236}">
                <a16:creationId xmlns:a16="http://schemas.microsoft.com/office/drawing/2014/main" id="{018D65F7-1B95-8F2F-59BA-38D7E1E6B158}"/>
              </a:ext>
            </a:extLst>
          </p:cNvPr>
          <p:cNvSpPr/>
          <p:nvPr/>
        </p:nvSpPr>
        <p:spPr>
          <a:xfrm>
            <a:off x="6848856" y="1254358"/>
            <a:ext cx="4756785" cy="2301190"/>
          </a:xfrm>
          <a:prstGeom prst="bracePair">
            <a:avLst/>
          </a:prstGeom>
          <a:ln w="38100">
            <a:solidFill>
              <a:srgbClr val="5F8E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b="1" dirty="0"/>
              <a:t>Valeurs &gt; 100g pour 100g : </a:t>
            </a:r>
            <a:r>
              <a:rPr lang="fr-FR" dirty="0"/>
              <a:t>Physiquement impossible</a:t>
            </a:r>
          </a:p>
          <a:p>
            <a:pPr algn="ctr"/>
            <a:endParaRPr lang="fr-FR" b="1" dirty="0"/>
          </a:p>
          <a:p>
            <a:pPr algn="ctr"/>
            <a:r>
              <a:rPr lang="fr-FR" b="1" dirty="0"/>
              <a:t>Énergie maximale théorique : </a:t>
            </a:r>
            <a:br>
              <a:rPr lang="fr-FR" b="1" dirty="0"/>
            </a:br>
            <a:r>
              <a:rPr lang="fr-FR" dirty="0"/>
              <a:t>900kcal/100g</a:t>
            </a:r>
          </a:p>
          <a:p>
            <a:pPr algn="ctr"/>
            <a:r>
              <a:rPr lang="fr-FR" dirty="0"/>
              <a:t>→ Soit 3 766kJ/100g</a:t>
            </a:r>
          </a:p>
        </p:txBody>
      </p:sp>
      <p:sp>
        <p:nvSpPr>
          <p:cNvPr id="26" name="Accolades 25">
            <a:extLst>
              <a:ext uri="{FF2B5EF4-FFF2-40B4-BE49-F238E27FC236}">
                <a16:creationId xmlns:a16="http://schemas.microsoft.com/office/drawing/2014/main" id="{4D6606A6-94F9-41C8-6EFE-846F330E5838}"/>
              </a:ext>
            </a:extLst>
          </p:cNvPr>
          <p:cNvSpPr/>
          <p:nvPr/>
        </p:nvSpPr>
        <p:spPr>
          <a:xfrm>
            <a:off x="6848856" y="4020343"/>
            <a:ext cx="4756785" cy="2301190"/>
          </a:xfrm>
          <a:prstGeom prst="bracePair">
            <a:avLst/>
          </a:prstGeom>
          <a:ln w="38100">
            <a:solidFill>
              <a:srgbClr val="84C6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b="1" dirty="0"/>
              <a:t>Focus sur le ratio macronutriments vs </a:t>
            </a:r>
            <a:r>
              <a:rPr lang="fr-FR" b="1" dirty="0" err="1"/>
              <a:t>micornutriments</a:t>
            </a:r>
            <a:br>
              <a:rPr lang="fr-FR" b="1" dirty="0"/>
            </a:br>
            <a:br>
              <a:rPr lang="fr-FR" b="1" dirty="0"/>
            </a:br>
            <a:r>
              <a:rPr lang="fr-FR" dirty="0"/>
              <a:t>3 vérifications de rapports logiques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Graisses saturées ≤ Lipides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Sucres ≤ lucides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Sodium = 0.4 * Sel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Valeurs </a:t>
            </a:r>
            <a:r>
              <a:rPr dirty="0" err="1"/>
              <a:t>manquantes</a:t>
            </a:r>
            <a:r>
              <a:rPr dirty="0"/>
              <a:t> — Vue </a:t>
            </a:r>
            <a:r>
              <a:rPr dirty="0" err="1"/>
              <a:t>globale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9718" y="1709928"/>
            <a:ext cx="4612849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Colonnes les plus touchées → blocs corrélés</a:t>
            </a:r>
            <a:endParaRPr lang="fr-FR" dirty="0"/>
          </a:p>
          <a:p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Nutriments manquants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en même temps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energy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, fat,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carbs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sugars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proteins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salt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, sodium)</a:t>
            </a:r>
            <a:endParaRPr dirty="0"/>
          </a:p>
          <a:p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Blocs similaires :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nutrition-score + </a:t>
            </a:r>
            <a:r>
              <a:rPr lang="fr-FR" altLang="fr-FR" b="1" dirty="0" err="1">
                <a:solidFill>
                  <a:schemeClr val="tx1"/>
                </a:solidFill>
                <a:latin typeface="Arial" panose="020B0604020202020204" pitchFamily="34" charset="0"/>
              </a:rPr>
              <a:t>z_ns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, &amp;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additifs/palme (3 champs)</a:t>
            </a:r>
            <a:endParaRPr dirty="0"/>
          </a:p>
          <a:p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→ </a:t>
            </a:r>
            <a:r>
              <a:rPr lang="fr-FR" altLang="fr-FR" dirty="0" err="1">
                <a:solidFill>
                  <a:schemeClr val="tx1"/>
                </a:solidFill>
                <a:latin typeface="Arial" panose="020B0604020202020204" pitchFamily="34" charset="0"/>
              </a:rPr>
              <a:t>Missingness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en blocs (MAR)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, pas aléatoire</a:t>
            </a:r>
          </a:p>
          <a:p>
            <a:pPr marL="0" indent="0">
              <a:buNone/>
            </a:pP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Décision d’imputation adaptée</a:t>
            </a:r>
            <a:endParaRPr lang="fr-FR" altLang="fr-F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Imputation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par blocs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et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par PNNS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(KNN ou médiane de la catégorie)</a:t>
            </a:r>
          </a:p>
          <a:p>
            <a:endParaRPr lang="fr-FR" dirty="0"/>
          </a:p>
          <a:p>
            <a:endParaRPr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9C6E692-1F86-E56B-CBF4-DE6BE68DD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04232"/>
            <a:ext cx="6882384" cy="50605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Répartition</a:t>
            </a:r>
            <a:r>
              <a:rPr dirty="0"/>
              <a:t> PNNS (après suppression des </a:t>
            </a:r>
            <a:r>
              <a:rPr dirty="0" err="1"/>
              <a:t>lignes</a:t>
            </a:r>
            <a:r>
              <a:rPr dirty="0"/>
              <a:t> très </a:t>
            </a:r>
            <a:r>
              <a:rPr dirty="0" err="1"/>
              <a:t>incomplètes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2160589"/>
            <a:ext cx="5839969" cy="44606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Filtre appliqué :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retrait des produits avec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&gt; 6 valeurs manquantes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(qualité minimale garantie).</a:t>
            </a:r>
          </a:p>
          <a:p>
            <a:pPr>
              <a:lnSpc>
                <a:spcPct val="150000"/>
              </a:lnSpc>
            </a:pP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Répartition PNNS restante :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diversité maintenue ; </a:t>
            </a:r>
            <a:r>
              <a:rPr lang="fr-FR" altLang="fr-FR" b="1" dirty="0" err="1">
                <a:solidFill>
                  <a:schemeClr val="tx1"/>
                </a:solidFill>
                <a:latin typeface="Arial" panose="020B0604020202020204" pitchFamily="34" charset="0"/>
              </a:rPr>
              <a:t>Sugary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 snacks ~19 %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(plus gros groupe) ⇢ </a:t>
            </a:r>
            <a:r>
              <a:rPr lang="fr-FR" altLang="fr-FR" b="1" dirty="0" err="1">
                <a:solidFill>
                  <a:schemeClr val="tx1"/>
                </a:solidFill>
                <a:latin typeface="Arial" panose="020B0604020202020204" pitchFamily="34" charset="0"/>
              </a:rPr>
              <a:t>Salty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 snacks ~4–5 %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(plus petit).</a:t>
            </a:r>
          </a:p>
          <a:p>
            <a:pPr>
              <a:lnSpc>
                <a:spcPct val="150000"/>
              </a:lnSpc>
            </a:pP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Équilibre des classes :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déséquilibre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modéré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; OK pour l’exploration. </a:t>
            </a:r>
            <a:r>
              <a:rPr lang="fr-FR" altLang="fr-FR" i="1" dirty="0">
                <a:solidFill>
                  <a:schemeClr val="tx1"/>
                </a:solidFill>
                <a:latin typeface="Arial" panose="020B0604020202020204" pitchFamily="34" charset="0"/>
              </a:rPr>
              <a:t>À prévoir pour la suite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: échantillonnage stratifié / </a:t>
            </a:r>
            <a:r>
              <a:rPr lang="fr-FR" altLang="fr-FR" b="1" dirty="0">
                <a:solidFill>
                  <a:schemeClr val="tx1"/>
                </a:solidFill>
                <a:latin typeface="Arial" panose="020B0604020202020204" pitchFamily="34" charset="0"/>
              </a:rPr>
              <a:t>class </a:t>
            </a:r>
            <a:r>
              <a:rPr lang="fr-FR" altLang="fr-FR" b="1" dirty="0" err="1">
                <a:solidFill>
                  <a:schemeClr val="tx1"/>
                </a:solidFill>
                <a:latin typeface="Arial" panose="020B0604020202020204" pitchFamily="34" charset="0"/>
              </a:rPr>
              <a:t>weights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 si apprentissage supervisé.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E6C90E7-50F9-CBFE-2B4A-2D969D07A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253" y="1930400"/>
            <a:ext cx="5474990" cy="4690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Valeurs </a:t>
            </a:r>
            <a:r>
              <a:rPr dirty="0" err="1"/>
              <a:t>manquantes</a:t>
            </a:r>
            <a:r>
              <a:rPr dirty="0"/>
              <a:t> — Co-occurrences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FEF348-9839-103D-5215-B443996B5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491164"/>
            <a:ext cx="8409841" cy="5119255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C44888B-7CBB-E814-3B4E-93FBE92D450C}"/>
              </a:ext>
            </a:extLst>
          </p:cNvPr>
          <p:cNvSpPr/>
          <p:nvPr/>
        </p:nvSpPr>
        <p:spPr>
          <a:xfrm>
            <a:off x="109728" y="1501000"/>
            <a:ext cx="3337560" cy="2513216"/>
          </a:xfrm>
          <a:prstGeom prst="roundRect">
            <a:avLst/>
          </a:prstGeom>
          <a:noFill/>
          <a:ln w="38100">
            <a:solidFill>
              <a:srgbClr val="5F8EE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5F8EEB"/>
                </a:solidFill>
              </a:rPr>
              <a:t>Blocs MAR identifiés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B0F0"/>
                </a:solidFill>
              </a:rPr>
              <a:t>Additifs &amp; palme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92D050"/>
                </a:solidFill>
              </a:rPr>
              <a:t>Sel &amp; sodium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7030A0"/>
                </a:solidFill>
              </a:rPr>
              <a:t>Lipides &amp; glucides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C000"/>
                </a:solidFill>
              </a:rPr>
              <a:t>Saturés / sucres / sel / sodium / score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175902F-70B6-E95D-D066-FB9D8AB8EBAA}"/>
              </a:ext>
            </a:extLst>
          </p:cNvPr>
          <p:cNvSpPr/>
          <p:nvPr/>
        </p:nvSpPr>
        <p:spPr>
          <a:xfrm>
            <a:off x="109728" y="4107039"/>
            <a:ext cx="3337560" cy="2513216"/>
          </a:xfrm>
          <a:prstGeom prst="roundRect">
            <a:avLst/>
          </a:prstGeom>
          <a:noFill/>
          <a:ln w="38100">
            <a:solidFill>
              <a:srgbClr val="84C6AD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600" b="1" dirty="0">
                <a:solidFill>
                  <a:srgbClr val="84C6AD"/>
                </a:solidFill>
              </a:rPr>
              <a:t>Stratégie d’imputation</a:t>
            </a:r>
          </a:p>
          <a:p>
            <a:endParaRPr lang="fr-FR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/>
                </a:solidFill>
              </a:rPr>
              <a:t>Par blocs &amp; par PNNS</a:t>
            </a:r>
            <a:r>
              <a:rPr lang="fr-FR" sz="1600" dirty="0">
                <a:solidFill>
                  <a:schemeClr val="tx1"/>
                </a:solidFill>
              </a:rPr>
              <a:t> : </a:t>
            </a:r>
            <a:r>
              <a:rPr lang="fr-FR" sz="1600" b="1" dirty="0">
                <a:solidFill>
                  <a:schemeClr val="tx1"/>
                </a:solidFill>
              </a:rPr>
              <a:t>KNN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/>
                </a:solidFill>
              </a:rPr>
              <a:t>Cas métier</a:t>
            </a:r>
            <a:r>
              <a:rPr lang="fr-FR" sz="1600" dirty="0">
                <a:solidFill>
                  <a:schemeClr val="tx1"/>
                </a:solidFill>
              </a:rPr>
              <a:t> : </a:t>
            </a:r>
            <a:r>
              <a:rPr lang="fr-FR" sz="1600" b="1" dirty="0">
                <a:solidFill>
                  <a:schemeClr val="tx1"/>
                </a:solidFill>
              </a:rPr>
              <a:t>additifs/palme → 0</a:t>
            </a:r>
            <a:r>
              <a:rPr lang="fr-FR" sz="1600" dirty="0">
                <a:solidFill>
                  <a:schemeClr val="tx1"/>
                </a:solidFill>
              </a:rPr>
              <a:t> si absence d’info.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 err="1">
                <a:solidFill>
                  <a:schemeClr val="tx1"/>
                </a:solidFill>
              </a:rPr>
              <a:t>Fallback</a:t>
            </a:r>
            <a:r>
              <a:rPr lang="fr-FR" sz="1600" dirty="0">
                <a:solidFill>
                  <a:schemeClr val="tx1"/>
                </a:solidFill>
              </a:rPr>
              <a:t> : médiane du </a:t>
            </a:r>
            <a:r>
              <a:rPr lang="fr-FR" sz="1600" b="1" dirty="0">
                <a:solidFill>
                  <a:schemeClr val="tx1"/>
                </a:solidFill>
              </a:rPr>
              <a:t>groupe PNNS</a:t>
            </a:r>
            <a:r>
              <a:rPr lang="fr-FR" sz="16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173B12-1C59-B1E7-0420-C5393CCFE25E}"/>
              </a:ext>
            </a:extLst>
          </p:cNvPr>
          <p:cNvSpPr/>
          <p:nvPr/>
        </p:nvSpPr>
        <p:spPr>
          <a:xfrm>
            <a:off x="9939528" y="4290060"/>
            <a:ext cx="1124712" cy="685800"/>
          </a:xfrm>
          <a:prstGeom prst="rect">
            <a:avLst/>
          </a:prstGeom>
          <a:solidFill>
            <a:srgbClr val="00B0F0">
              <a:alpha val="50000"/>
            </a:srgbClr>
          </a:solidFill>
          <a:ln w="38100">
            <a:solidFill>
              <a:srgbClr val="00B0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5CF59E-F9B4-C88A-E727-D002E5A4B7FC}"/>
              </a:ext>
            </a:extLst>
          </p:cNvPr>
          <p:cNvSpPr/>
          <p:nvPr/>
        </p:nvSpPr>
        <p:spPr>
          <a:xfrm>
            <a:off x="8814816" y="3595116"/>
            <a:ext cx="740664" cy="437388"/>
          </a:xfrm>
          <a:prstGeom prst="rect">
            <a:avLst/>
          </a:prstGeom>
          <a:solidFill>
            <a:srgbClr val="92D050">
              <a:alpha val="50000"/>
            </a:srgbClr>
          </a:solidFill>
          <a:ln w="38100">
            <a:solidFill>
              <a:srgbClr val="92D0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5E8575-0924-738C-FB62-B17F2FE77F0C}"/>
              </a:ext>
            </a:extLst>
          </p:cNvPr>
          <p:cNvSpPr/>
          <p:nvPr/>
        </p:nvSpPr>
        <p:spPr>
          <a:xfrm>
            <a:off x="7318248" y="3116255"/>
            <a:ext cx="362712" cy="228600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EC0853-2BC7-F3F3-FA93-C4C6B5DFDFB7}"/>
              </a:ext>
            </a:extLst>
          </p:cNvPr>
          <p:cNvSpPr/>
          <p:nvPr/>
        </p:nvSpPr>
        <p:spPr>
          <a:xfrm>
            <a:off x="7315200" y="3594354"/>
            <a:ext cx="365760" cy="695706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D4E7C5-E993-35BA-6663-5A5A11A8D74E}"/>
              </a:ext>
            </a:extLst>
          </p:cNvPr>
          <p:cNvSpPr/>
          <p:nvPr/>
        </p:nvSpPr>
        <p:spPr>
          <a:xfrm>
            <a:off x="6943344" y="2875900"/>
            <a:ext cx="362712" cy="228600"/>
          </a:xfrm>
          <a:prstGeom prst="rect">
            <a:avLst/>
          </a:prstGeom>
          <a:solidFill>
            <a:srgbClr val="7030A0">
              <a:alpha val="50000"/>
            </a:srgbClr>
          </a:solidFill>
          <a:ln w="38100">
            <a:solidFill>
              <a:srgbClr val="7030A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E2546F-D947-9945-9D2F-807381B89DC2}"/>
              </a:ext>
            </a:extLst>
          </p:cNvPr>
          <p:cNvSpPr/>
          <p:nvPr/>
        </p:nvSpPr>
        <p:spPr>
          <a:xfrm>
            <a:off x="7690104" y="2415017"/>
            <a:ext cx="362712" cy="228600"/>
          </a:xfrm>
          <a:prstGeom prst="rect">
            <a:avLst/>
          </a:prstGeom>
          <a:solidFill>
            <a:srgbClr val="7030A0">
              <a:alpha val="50000"/>
            </a:srgbClr>
          </a:solidFill>
          <a:ln w="38100">
            <a:solidFill>
              <a:srgbClr val="7030A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6841D5-5754-10F3-A763-407AC31EF3DB}"/>
              </a:ext>
            </a:extLst>
          </p:cNvPr>
          <p:cNvSpPr/>
          <p:nvPr/>
        </p:nvSpPr>
        <p:spPr>
          <a:xfrm>
            <a:off x="8061960" y="2643617"/>
            <a:ext cx="362712" cy="228600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EF3E28-9751-B105-F19F-77D0C0AC5F38}"/>
              </a:ext>
            </a:extLst>
          </p:cNvPr>
          <p:cNvSpPr/>
          <p:nvPr/>
        </p:nvSpPr>
        <p:spPr>
          <a:xfrm>
            <a:off x="8814816" y="2638156"/>
            <a:ext cx="1124712" cy="228600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21B851-CE15-FEAD-868E-91907C357AD8}"/>
              </a:ext>
            </a:extLst>
          </p:cNvPr>
          <p:cNvSpPr/>
          <p:nvPr/>
        </p:nvSpPr>
        <p:spPr>
          <a:xfrm>
            <a:off x="8061960" y="3595116"/>
            <a:ext cx="365760" cy="695706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4A599A-4070-E6F2-96DA-CFBFBD9F128C}"/>
              </a:ext>
            </a:extLst>
          </p:cNvPr>
          <p:cNvSpPr/>
          <p:nvPr/>
        </p:nvSpPr>
        <p:spPr>
          <a:xfrm>
            <a:off x="8814816" y="3116255"/>
            <a:ext cx="1124712" cy="228600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85002B-DF9E-6F61-8BF8-981CE1D82B97}"/>
              </a:ext>
            </a:extLst>
          </p:cNvPr>
          <p:cNvSpPr/>
          <p:nvPr/>
        </p:nvSpPr>
        <p:spPr>
          <a:xfrm>
            <a:off x="8808720" y="4054165"/>
            <a:ext cx="746760" cy="228600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DFA4DC-8985-8841-D252-7C4755E3762A}"/>
              </a:ext>
            </a:extLst>
          </p:cNvPr>
          <p:cNvSpPr/>
          <p:nvPr/>
        </p:nvSpPr>
        <p:spPr>
          <a:xfrm>
            <a:off x="9573768" y="3585972"/>
            <a:ext cx="365760" cy="459049"/>
          </a:xfrm>
          <a:prstGeom prst="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666" y="417576"/>
            <a:ext cx="8596668" cy="1320800"/>
          </a:xfrm>
        </p:spPr>
        <p:txBody>
          <a:bodyPr/>
          <a:lstStyle/>
          <a:p>
            <a:pPr algn="ctr"/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univariée</a:t>
            </a:r>
            <a:r>
              <a:rPr dirty="0"/>
              <a:t> — Distributions </a:t>
            </a:r>
            <a:r>
              <a:rPr dirty="0" err="1"/>
              <a:t>clés</a:t>
            </a:r>
            <a:endParaRPr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70047F-BA24-1480-F60E-815A190A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03" y="1385602"/>
            <a:ext cx="3389695" cy="264312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3458A04-A595-2F43-7333-544F3401B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073" y="1385602"/>
            <a:ext cx="3351208" cy="264312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29B3FD9-8465-3EA2-A52C-B813D1B8C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502" y="1385602"/>
            <a:ext cx="3195048" cy="2643120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C916E8D4-DA8B-9EBC-0591-E9320A091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382275"/>
              </p:ext>
            </p:extLst>
          </p:nvPr>
        </p:nvGraphicFramePr>
        <p:xfrm>
          <a:off x="440804" y="4176098"/>
          <a:ext cx="11115747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5249">
                  <a:extLst>
                    <a:ext uri="{9D8B030D-6E8A-4147-A177-3AD203B41FA5}">
                      <a16:colId xmlns:a16="http://schemas.microsoft.com/office/drawing/2014/main" val="822029848"/>
                    </a:ext>
                  </a:extLst>
                </a:gridCol>
                <a:gridCol w="3705249">
                  <a:extLst>
                    <a:ext uri="{9D8B030D-6E8A-4147-A177-3AD203B41FA5}">
                      <a16:colId xmlns:a16="http://schemas.microsoft.com/office/drawing/2014/main" val="1539913184"/>
                    </a:ext>
                  </a:extLst>
                </a:gridCol>
                <a:gridCol w="3705249">
                  <a:extLst>
                    <a:ext uri="{9D8B030D-6E8A-4147-A177-3AD203B41FA5}">
                      <a16:colId xmlns:a16="http://schemas.microsoft.com/office/drawing/2014/main" val="23066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Énergie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Glucides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Score nutritionnel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39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Bimodal</a:t>
                      </a:r>
                      <a:r>
                        <a:rPr lang="fr-FR" sz="1200" dirty="0"/>
                        <a:t> : pic bas (≈ 200–400 kJ) puis pic ≈ 1 000–1 500 kJ.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Queue droite</a:t>
                      </a:r>
                      <a:r>
                        <a:rPr lang="fr-FR" sz="1200" dirty="0"/>
                        <a:t> jusqu’à ~4 000 kJ ⇒ produits très énergétiques (huiles/graisses).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Lecture</a:t>
                      </a:r>
                      <a:r>
                        <a:rPr lang="fr-FR" sz="1200" dirty="0"/>
                        <a:t> : coexistence d’aliments « légers » et « denses » en énergie.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Deux pics</a:t>
                      </a:r>
                      <a:r>
                        <a:rPr lang="fr-FR" sz="1200" dirty="0"/>
                        <a:t> : ≈ 0–5 g (peu glucidiques) et </a:t>
                      </a:r>
                      <a:r>
                        <a:rPr lang="fr-FR" sz="1200" b="1" dirty="0"/>
                        <a:t>40–80 g</a:t>
                      </a:r>
                      <a:r>
                        <a:rPr lang="fr-FR" sz="1200" dirty="0"/>
                        <a:t> (céréales/sucrés).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Étendue</a:t>
                      </a:r>
                      <a:r>
                        <a:rPr lang="fr-FR" sz="1200" dirty="0"/>
                        <a:t> jusqu’à 100 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Lecture</a:t>
                      </a:r>
                      <a:r>
                        <a:rPr lang="fr-FR" sz="1200" dirty="0"/>
                        <a:t> : sous-populations nettes utiles pour segmenter.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Multimodal</a:t>
                      </a:r>
                      <a:r>
                        <a:rPr lang="fr-FR" sz="1200" dirty="0"/>
                        <a:t> : bosses ≈ 0–5 et 10–15, extrêmes possibles.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Variable ordinale</a:t>
                      </a:r>
                      <a:r>
                        <a:rPr lang="fr-FR" sz="1200" dirty="0"/>
                        <a:t> qui résume le profil nutritionnel.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Lecture</a:t>
                      </a:r>
                      <a:r>
                        <a:rPr lang="fr-FR" sz="1200" dirty="0"/>
                        <a:t> : diversité des profils A→E ; médiane/IQR plus parlants que la moyenne.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805468"/>
                  </a:ext>
                </a:extLst>
              </a:tr>
            </a:tbl>
          </a:graphicData>
        </a:graphic>
      </p:graphicFrame>
      <p:sp>
        <p:nvSpPr>
          <p:cNvPr id="19" name="Organigramme : Fusion 18">
            <a:extLst>
              <a:ext uri="{FF2B5EF4-FFF2-40B4-BE49-F238E27FC236}">
                <a16:creationId xmlns:a16="http://schemas.microsoft.com/office/drawing/2014/main" id="{E0350260-EBF7-BC4A-1A96-C84AE8FAD7FC}"/>
              </a:ext>
            </a:extLst>
          </p:cNvPr>
          <p:cNvSpPr/>
          <p:nvPr/>
        </p:nvSpPr>
        <p:spPr>
          <a:xfrm>
            <a:off x="5696925" y="5777991"/>
            <a:ext cx="603504" cy="20794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428509F-D626-C79A-7D45-D1017958316F}"/>
              </a:ext>
            </a:extLst>
          </p:cNvPr>
          <p:cNvSpPr txBox="1"/>
          <p:nvPr/>
        </p:nvSpPr>
        <p:spPr>
          <a:xfrm>
            <a:off x="440804" y="5964258"/>
            <a:ext cx="11115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Distributions </a:t>
            </a:r>
            <a:r>
              <a:rPr lang="fr-FR" b="1" dirty="0"/>
              <a:t>asymétriques</a:t>
            </a:r>
            <a:r>
              <a:rPr lang="fr-FR" dirty="0"/>
              <a:t> et souvent </a:t>
            </a:r>
            <a:r>
              <a:rPr lang="fr-FR" b="1" dirty="0" err="1"/>
              <a:t>multi-modales</a:t>
            </a:r>
            <a:r>
              <a:rPr lang="fr-FR" dirty="0"/>
              <a:t> ⇒ privilégier des métriques </a:t>
            </a:r>
            <a:r>
              <a:rPr lang="fr-FR" b="1" dirty="0"/>
              <a:t>robustes</a:t>
            </a:r>
            <a:r>
              <a:rPr lang="fr-FR" dirty="0"/>
              <a:t> (médiane/IQR) et des </a:t>
            </a:r>
            <a:r>
              <a:rPr lang="fr-FR" b="1" dirty="0"/>
              <a:t>analyses par segments</a:t>
            </a:r>
            <a:r>
              <a:rPr lang="fr-FR" dirty="0"/>
              <a:t> pour mieux expliquer/prédire la cible PNNS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583" y="607562"/>
            <a:ext cx="9810834" cy="652272"/>
          </a:xfrm>
        </p:spPr>
        <p:txBody>
          <a:bodyPr/>
          <a:lstStyle/>
          <a:p>
            <a:pPr algn="ctr"/>
            <a:r>
              <a:rPr lang="fr-FR" noProof="0" dirty="0"/>
              <a:t>Analyse bivariée — Numérique </a:t>
            </a:r>
            <a:r>
              <a:rPr dirty="0"/>
              <a:t>/ Numérique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60C3E08-60CC-5806-4391-FEE40C2FD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694"/>
          <a:stretch>
            <a:fillRect/>
          </a:stretch>
        </p:blipFill>
        <p:spPr>
          <a:xfrm>
            <a:off x="256032" y="1729374"/>
            <a:ext cx="6400800" cy="451902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6B3C5E7-DC72-6EE2-9970-514A0A74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329" t="5334" r="302" b="61333"/>
          <a:stretch>
            <a:fillRect/>
          </a:stretch>
        </p:blipFill>
        <p:spPr>
          <a:xfrm>
            <a:off x="841248" y="2032142"/>
            <a:ext cx="1340984" cy="1396858"/>
          </a:xfrm>
          <a:prstGeom prst="rect">
            <a:avLst/>
          </a:prstGeom>
        </p:spPr>
      </p:pic>
      <p:sp>
        <p:nvSpPr>
          <p:cNvPr id="12" name="Rectangle : avec coin rogné 11">
            <a:extLst>
              <a:ext uri="{FF2B5EF4-FFF2-40B4-BE49-F238E27FC236}">
                <a16:creationId xmlns:a16="http://schemas.microsoft.com/office/drawing/2014/main" id="{2168D958-8721-3F2E-CE99-662246028FCF}"/>
              </a:ext>
            </a:extLst>
          </p:cNvPr>
          <p:cNvSpPr/>
          <p:nvPr/>
        </p:nvSpPr>
        <p:spPr>
          <a:xfrm>
            <a:off x="6800088" y="1729373"/>
            <a:ext cx="2535936" cy="2203267"/>
          </a:xfrm>
          <a:prstGeom prst="snip1Rect">
            <a:avLst/>
          </a:prstGeom>
          <a:solidFill>
            <a:srgbClr val="497389"/>
          </a:solidFill>
          <a:ln>
            <a:solidFill>
              <a:srgbClr val="84C6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84C6AD"/>
                </a:solidFill>
              </a:rPr>
              <a:t>Relation globale</a:t>
            </a:r>
          </a:p>
          <a:p>
            <a:pPr algn="ctr"/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r = 0,63 (p≈0)</a:t>
            </a:r>
            <a:r>
              <a:rPr lang="fr-FR" sz="1400" dirty="0"/>
              <a:t> : lien net </a:t>
            </a:r>
            <a:r>
              <a:rPr lang="fr-FR" sz="1400" i="1" dirty="0"/>
              <a:t>glucides → sucres</a:t>
            </a:r>
            <a:r>
              <a:rPr lang="fr-F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Tous les points sous </a:t>
            </a:r>
            <a:r>
              <a:rPr lang="fr-FR" sz="1400" b="1" dirty="0"/>
              <a:t>sucres &gt; glucides</a:t>
            </a:r>
            <a:r>
              <a:rPr lang="fr-FR" sz="1400" dirty="0"/>
              <a:t> (cohérence).</a:t>
            </a:r>
          </a:p>
          <a:p>
            <a:pPr algn="ctr"/>
            <a:endParaRPr lang="fr-FR" dirty="0"/>
          </a:p>
        </p:txBody>
      </p:sp>
      <p:sp>
        <p:nvSpPr>
          <p:cNvPr id="13" name="Rectangle : avec coin rogné 12">
            <a:extLst>
              <a:ext uri="{FF2B5EF4-FFF2-40B4-BE49-F238E27FC236}">
                <a16:creationId xmlns:a16="http://schemas.microsoft.com/office/drawing/2014/main" id="{099F8514-A124-70C5-E8E5-BDE8D0751ADF}"/>
              </a:ext>
            </a:extLst>
          </p:cNvPr>
          <p:cNvSpPr/>
          <p:nvPr/>
        </p:nvSpPr>
        <p:spPr>
          <a:xfrm>
            <a:off x="9479280" y="1729374"/>
            <a:ext cx="2535936" cy="2203267"/>
          </a:xfrm>
          <a:prstGeom prst="snip1Rect">
            <a:avLst/>
          </a:prstGeom>
          <a:solidFill>
            <a:srgbClr val="465674"/>
          </a:solidFill>
          <a:ln>
            <a:solidFill>
              <a:srgbClr val="5F8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5F8EEB"/>
                </a:solidFill>
              </a:rPr>
              <a:t>Quantités (centroïdes)</a:t>
            </a:r>
          </a:p>
          <a:p>
            <a:pPr algn="ctr"/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Glucides élevés</a:t>
            </a:r>
            <a:r>
              <a:rPr lang="fr-FR" sz="1400" dirty="0"/>
              <a:t> : </a:t>
            </a:r>
            <a:r>
              <a:rPr lang="fr-FR" sz="1400" i="1" dirty="0" err="1"/>
              <a:t>Sugary</a:t>
            </a:r>
            <a:r>
              <a:rPr lang="fr-FR" sz="1400" i="1" dirty="0"/>
              <a:t> snacks</a:t>
            </a:r>
            <a:r>
              <a:rPr lang="fr-FR" sz="1400" dirty="0"/>
              <a:t> 58g, </a:t>
            </a:r>
            <a:r>
              <a:rPr lang="fr-FR" sz="1400" i="1" dirty="0" err="1"/>
              <a:t>Cereals</a:t>
            </a:r>
            <a:r>
              <a:rPr lang="fr-FR" sz="1400" dirty="0"/>
              <a:t> 55g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Faibles</a:t>
            </a:r>
            <a:r>
              <a:rPr lang="fr-FR" sz="1400" dirty="0"/>
              <a:t> : </a:t>
            </a:r>
            <a:r>
              <a:rPr lang="fr-FR" sz="1400" i="1" dirty="0"/>
              <a:t>Fish/</a:t>
            </a:r>
            <a:r>
              <a:rPr lang="fr-FR" sz="1400" i="1" dirty="0" err="1"/>
              <a:t>Meat</a:t>
            </a:r>
            <a:r>
              <a:rPr lang="fr-FR" sz="1400" i="1" dirty="0"/>
              <a:t> </a:t>
            </a:r>
            <a:r>
              <a:rPr lang="fr-FR" sz="1400" dirty="0"/>
              <a:t>2g, </a:t>
            </a:r>
            <a:r>
              <a:rPr lang="fr-FR" sz="1400" i="1" dirty="0"/>
              <a:t>Fat &amp; sauces </a:t>
            </a:r>
            <a:r>
              <a:rPr lang="fr-FR" sz="1400" dirty="0"/>
              <a:t>8g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Sucres↑</a:t>
            </a:r>
            <a:r>
              <a:rPr lang="fr-FR" sz="1400" dirty="0"/>
              <a:t>: </a:t>
            </a:r>
            <a:r>
              <a:rPr lang="fr-FR" sz="1400" i="1" dirty="0" err="1"/>
              <a:t>Sugary</a:t>
            </a:r>
            <a:r>
              <a:rPr lang="fr-FR" sz="1400" i="1" dirty="0"/>
              <a:t> snacks</a:t>
            </a:r>
            <a:r>
              <a:rPr lang="fr-FR" sz="1400" dirty="0"/>
              <a:t> 40g, </a:t>
            </a:r>
            <a:r>
              <a:rPr lang="fr-FR" sz="1400" i="1" dirty="0" err="1"/>
              <a:t>Beverages</a:t>
            </a:r>
            <a:r>
              <a:rPr lang="fr-FR" sz="1400" dirty="0"/>
              <a:t> 12g</a:t>
            </a:r>
          </a:p>
          <a:p>
            <a:pPr algn="ctr"/>
            <a:endParaRPr lang="fr-FR" sz="1400" dirty="0"/>
          </a:p>
        </p:txBody>
      </p:sp>
      <p:sp>
        <p:nvSpPr>
          <p:cNvPr id="14" name="Rectangle : avec coin rogné 13">
            <a:extLst>
              <a:ext uri="{FF2B5EF4-FFF2-40B4-BE49-F238E27FC236}">
                <a16:creationId xmlns:a16="http://schemas.microsoft.com/office/drawing/2014/main" id="{6D741C4E-4CFB-F892-B800-C394979645C8}"/>
              </a:ext>
            </a:extLst>
          </p:cNvPr>
          <p:cNvSpPr/>
          <p:nvPr/>
        </p:nvSpPr>
        <p:spPr>
          <a:xfrm>
            <a:off x="6800088" y="4050791"/>
            <a:ext cx="2535936" cy="2203268"/>
          </a:xfrm>
          <a:prstGeom prst="snip1Rect">
            <a:avLst/>
          </a:prstGeom>
          <a:solidFill>
            <a:srgbClr val="465674"/>
          </a:solidFill>
          <a:ln>
            <a:solidFill>
              <a:srgbClr val="5F8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5F8EEB"/>
                </a:solidFill>
              </a:rPr>
              <a:t>Ratio sucres/glucides</a:t>
            </a:r>
          </a:p>
          <a:p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Très sucrés</a:t>
            </a:r>
            <a:r>
              <a:rPr lang="fr-FR" sz="1400" dirty="0"/>
              <a:t> : </a:t>
            </a:r>
            <a:r>
              <a:rPr lang="fr-FR" sz="1400" i="1" dirty="0" err="1"/>
              <a:t>Beverages</a:t>
            </a:r>
            <a:r>
              <a:rPr lang="fr-FR" sz="1400" dirty="0"/>
              <a:t> 0,91; </a:t>
            </a:r>
            <a:r>
              <a:rPr lang="fr-FR" sz="1400" i="1" dirty="0"/>
              <a:t>Milk &amp; </a:t>
            </a:r>
            <a:r>
              <a:rPr lang="fr-FR" sz="1400" i="1" dirty="0" err="1"/>
              <a:t>dairy</a:t>
            </a:r>
            <a:r>
              <a:rPr lang="fr-FR" sz="1400" dirty="0"/>
              <a:t> 0,85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Amidon/complexes</a:t>
            </a:r>
            <a:r>
              <a:rPr lang="fr-FR" sz="1400" dirty="0"/>
              <a:t> : </a:t>
            </a:r>
            <a:r>
              <a:rPr lang="fr-FR" sz="1400" i="1" dirty="0" err="1"/>
              <a:t>Cereals</a:t>
            </a:r>
            <a:r>
              <a:rPr lang="fr-FR" sz="1400" dirty="0"/>
              <a:t> 0,12; </a:t>
            </a:r>
            <a:r>
              <a:rPr lang="fr-FR" sz="1400" i="1" dirty="0" err="1"/>
              <a:t>Salty</a:t>
            </a:r>
            <a:r>
              <a:rPr lang="fr-FR" sz="1400" i="1" dirty="0"/>
              <a:t> snacks</a:t>
            </a:r>
            <a:r>
              <a:rPr lang="fr-FR" sz="1400" dirty="0"/>
              <a:t> 0,10.</a:t>
            </a:r>
          </a:p>
        </p:txBody>
      </p:sp>
      <p:sp>
        <p:nvSpPr>
          <p:cNvPr id="15" name="Rectangle : avec coin rogné 14">
            <a:extLst>
              <a:ext uri="{FF2B5EF4-FFF2-40B4-BE49-F238E27FC236}">
                <a16:creationId xmlns:a16="http://schemas.microsoft.com/office/drawing/2014/main" id="{A1987B02-6D8A-772A-8E04-9857F25ADC93}"/>
              </a:ext>
            </a:extLst>
          </p:cNvPr>
          <p:cNvSpPr/>
          <p:nvPr/>
        </p:nvSpPr>
        <p:spPr>
          <a:xfrm>
            <a:off x="9479280" y="4050791"/>
            <a:ext cx="2535936" cy="2203268"/>
          </a:xfrm>
          <a:prstGeom prst="snip1Rect">
            <a:avLst/>
          </a:prstGeom>
          <a:solidFill>
            <a:srgbClr val="497389"/>
          </a:solidFill>
          <a:ln>
            <a:solidFill>
              <a:srgbClr val="84C6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84C6AD"/>
                </a:solidFill>
              </a:rPr>
              <a:t>Pour l’app</a:t>
            </a:r>
          </a:p>
          <a:p>
            <a:pPr algn="ctr"/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Imputation </a:t>
            </a:r>
            <a:r>
              <a:rPr lang="fr-FR" sz="1400" b="1" dirty="0"/>
              <a:t>par PNNS</a:t>
            </a:r>
            <a:r>
              <a:rPr lang="fr-FR" sz="1400" dirty="0"/>
              <a:t> pertinente.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Vérification que  </a:t>
            </a:r>
            <a:r>
              <a:rPr lang="fr-FR" sz="1400" b="1" dirty="0"/>
              <a:t>sucres ≤ glucides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Estimation de </a:t>
            </a:r>
            <a:r>
              <a:rPr lang="fr-FR" sz="1400" i="1" dirty="0" err="1"/>
              <a:t>sugars</a:t>
            </a:r>
            <a:r>
              <a:rPr lang="fr-FR" sz="1400" dirty="0"/>
              <a:t> avec </a:t>
            </a:r>
            <a:r>
              <a:rPr lang="fr-FR" sz="1400" i="1" dirty="0" err="1"/>
              <a:t>carbs</a:t>
            </a:r>
            <a:r>
              <a:rPr lang="fr-FR" sz="1400" dirty="0"/>
              <a:t> + PNNS</a:t>
            </a:r>
          </a:p>
          <a:p>
            <a:pPr algn="ctr"/>
            <a:endParaRPr lang="fr-FR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E938E8E-1AFB-EF4A-3A1A-7D54D22C6770}"/>
              </a:ext>
            </a:extLst>
          </p:cNvPr>
          <p:cNvSpPr/>
          <p:nvPr/>
        </p:nvSpPr>
        <p:spPr>
          <a:xfrm rot="21017003">
            <a:off x="3255264" y="5367528"/>
            <a:ext cx="850392" cy="2926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B3016F6B-1DC4-AE89-ECCD-27C2FE794EF4}"/>
              </a:ext>
            </a:extLst>
          </p:cNvPr>
          <p:cNvCxnSpPr>
            <a:stCxn id="16" idx="6"/>
          </p:cNvCxnSpPr>
          <p:nvPr/>
        </p:nvCxnSpPr>
        <p:spPr>
          <a:xfrm>
            <a:off x="4099556" y="5442069"/>
            <a:ext cx="2700532" cy="135771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>
            <a:extLst>
              <a:ext uri="{FF2B5EF4-FFF2-40B4-BE49-F238E27FC236}">
                <a16:creationId xmlns:a16="http://schemas.microsoft.com/office/drawing/2014/main" id="{A36E1C14-CB94-9FDE-052C-2B8A915ABA38}"/>
              </a:ext>
            </a:extLst>
          </p:cNvPr>
          <p:cNvSpPr/>
          <p:nvPr/>
        </p:nvSpPr>
        <p:spPr>
          <a:xfrm rot="19739470">
            <a:off x="1306602" y="5213788"/>
            <a:ext cx="525431" cy="2926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5BE5A6AA-9731-5CB4-6F59-595634B5FEE6}"/>
              </a:ext>
            </a:extLst>
          </p:cNvPr>
          <p:cNvCxnSpPr>
            <a:stCxn id="19" idx="6"/>
          </p:cNvCxnSpPr>
          <p:nvPr/>
        </p:nvCxnSpPr>
        <p:spPr>
          <a:xfrm flipV="1">
            <a:off x="1794488" y="4928616"/>
            <a:ext cx="5005600" cy="296133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rganigramme : Fusion 15">
            <a:extLst>
              <a:ext uri="{FF2B5EF4-FFF2-40B4-BE49-F238E27FC236}">
                <a16:creationId xmlns:a16="http://schemas.microsoft.com/office/drawing/2014/main" id="{E6D78472-D28C-0DBB-2ABD-5DAF21170AD7}"/>
              </a:ext>
            </a:extLst>
          </p:cNvPr>
          <p:cNvSpPr/>
          <p:nvPr/>
        </p:nvSpPr>
        <p:spPr>
          <a:xfrm>
            <a:off x="5709088" y="5126559"/>
            <a:ext cx="777240" cy="186866"/>
          </a:xfrm>
          <a:prstGeom prst="flowChartMerg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Organigramme : Fusion 16">
            <a:extLst>
              <a:ext uri="{FF2B5EF4-FFF2-40B4-BE49-F238E27FC236}">
                <a16:creationId xmlns:a16="http://schemas.microsoft.com/office/drawing/2014/main" id="{91E16BDA-4E96-CEE0-6F98-5C6AD3EE7AA7}"/>
              </a:ext>
            </a:extLst>
          </p:cNvPr>
          <p:cNvSpPr/>
          <p:nvPr/>
        </p:nvSpPr>
        <p:spPr>
          <a:xfrm rot="16200000">
            <a:off x="9422462" y="3234982"/>
            <a:ext cx="777240" cy="186866"/>
          </a:xfrm>
          <a:prstGeom prst="flowChartMerge">
            <a:avLst/>
          </a:prstGeom>
          <a:solidFill>
            <a:srgbClr val="84C6AD"/>
          </a:solidFill>
          <a:ln>
            <a:solidFill>
              <a:srgbClr val="84C6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Organigramme : Fusion 17">
            <a:extLst>
              <a:ext uri="{FF2B5EF4-FFF2-40B4-BE49-F238E27FC236}">
                <a16:creationId xmlns:a16="http://schemas.microsoft.com/office/drawing/2014/main" id="{ED24742F-E4DA-9603-AFBE-F0AF2E0DC616}"/>
              </a:ext>
            </a:extLst>
          </p:cNvPr>
          <p:cNvSpPr/>
          <p:nvPr/>
        </p:nvSpPr>
        <p:spPr>
          <a:xfrm rot="5400000">
            <a:off x="1996639" y="3234982"/>
            <a:ext cx="777240" cy="186866"/>
          </a:xfrm>
          <a:prstGeom prst="flowChartMerge">
            <a:avLst/>
          </a:prstGeom>
          <a:solidFill>
            <a:srgbClr val="5F8EEB"/>
          </a:solidFill>
          <a:ln>
            <a:solidFill>
              <a:srgbClr val="5F8E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898" y="609600"/>
            <a:ext cx="9326202" cy="1320800"/>
          </a:xfrm>
        </p:spPr>
        <p:txBody>
          <a:bodyPr/>
          <a:lstStyle/>
          <a:p>
            <a:pPr algn="ctr"/>
            <a:r>
              <a:rPr lang="fr-FR" noProof="0" dirty="0"/>
              <a:t>Analyse bivariée — Numérique / Catégoriel</a:t>
            </a:r>
          </a:p>
        </p:txBody>
      </p:sp>
      <p:sp>
        <p:nvSpPr>
          <p:cNvPr id="11" name="Parenthèse fermante 10">
            <a:extLst>
              <a:ext uri="{FF2B5EF4-FFF2-40B4-BE49-F238E27FC236}">
                <a16:creationId xmlns:a16="http://schemas.microsoft.com/office/drawing/2014/main" id="{C8734168-39E4-586E-E077-6AB9FC801521}"/>
              </a:ext>
            </a:extLst>
          </p:cNvPr>
          <p:cNvSpPr/>
          <p:nvPr/>
        </p:nvSpPr>
        <p:spPr>
          <a:xfrm>
            <a:off x="1938528" y="1549322"/>
            <a:ext cx="320040" cy="3558188"/>
          </a:xfrm>
          <a:prstGeom prst="rightBracket">
            <a:avLst>
              <a:gd name="adj" fmla="val 79761"/>
            </a:avLst>
          </a:prstGeom>
          <a:ln w="38100">
            <a:solidFill>
              <a:srgbClr val="5F8E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Parenthèse fermante 13">
            <a:extLst>
              <a:ext uri="{FF2B5EF4-FFF2-40B4-BE49-F238E27FC236}">
                <a16:creationId xmlns:a16="http://schemas.microsoft.com/office/drawing/2014/main" id="{8F7D391C-9CD9-953B-BC04-FB3CA8EA3276}"/>
              </a:ext>
            </a:extLst>
          </p:cNvPr>
          <p:cNvSpPr/>
          <p:nvPr/>
        </p:nvSpPr>
        <p:spPr>
          <a:xfrm rot="10800000">
            <a:off x="9936849" y="1549322"/>
            <a:ext cx="320040" cy="3558188"/>
          </a:xfrm>
          <a:prstGeom prst="rightBracket">
            <a:avLst>
              <a:gd name="adj" fmla="val 79761"/>
            </a:avLst>
          </a:prstGeom>
          <a:ln w="38100">
            <a:solidFill>
              <a:srgbClr val="84C6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Parenthèse fermante 14">
            <a:extLst>
              <a:ext uri="{FF2B5EF4-FFF2-40B4-BE49-F238E27FC236}">
                <a16:creationId xmlns:a16="http://schemas.microsoft.com/office/drawing/2014/main" id="{5A3A3AED-A44A-EBCD-0A87-93E3B2AAFD80}"/>
              </a:ext>
            </a:extLst>
          </p:cNvPr>
          <p:cNvSpPr/>
          <p:nvPr/>
        </p:nvSpPr>
        <p:spPr>
          <a:xfrm rot="16200000">
            <a:off x="5937690" y="1897821"/>
            <a:ext cx="320040" cy="7225926"/>
          </a:xfrm>
          <a:prstGeom prst="rightBracket">
            <a:avLst>
              <a:gd name="adj" fmla="val 79761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2B69094-374E-600E-6448-B9F288068E2C}"/>
              </a:ext>
            </a:extLst>
          </p:cNvPr>
          <p:cNvSpPr txBox="1"/>
          <p:nvPr/>
        </p:nvSpPr>
        <p:spPr>
          <a:xfrm>
            <a:off x="0" y="1826011"/>
            <a:ext cx="22551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>
                <a:solidFill>
                  <a:srgbClr val="5F8EEB"/>
                </a:solidFill>
              </a:rPr>
              <a:t>Faibles / Modérés en saturés</a:t>
            </a:r>
          </a:p>
          <a:p>
            <a:pPr>
              <a:buNone/>
            </a:pPr>
            <a:endParaRPr lang="fr-FR" sz="1400" dirty="0">
              <a:solidFill>
                <a:srgbClr val="5F8EEB"/>
              </a:solidFill>
            </a:endParaRPr>
          </a:p>
          <a:p>
            <a:r>
              <a:rPr lang="fr-FR" sz="1400" b="1" dirty="0"/>
              <a:t>- Très faibles</a:t>
            </a:r>
            <a:r>
              <a:rPr lang="fr-FR" sz="1400" dirty="0"/>
              <a:t> : </a:t>
            </a:r>
            <a:r>
              <a:rPr lang="fr-FR" sz="1400" i="1" dirty="0"/>
              <a:t>Boissons</a:t>
            </a:r>
            <a:r>
              <a:rPr lang="fr-FR" sz="1400" dirty="0"/>
              <a:t>, </a:t>
            </a:r>
            <a:r>
              <a:rPr lang="fr-FR" sz="1400" i="1" dirty="0"/>
              <a:t>Fruits &amp; légumes</a:t>
            </a:r>
            <a:r>
              <a:rPr lang="fr-FR" sz="1400" dirty="0"/>
              <a:t> → médiane ≈ </a:t>
            </a:r>
            <a:r>
              <a:rPr lang="fr-FR" sz="1400" b="1" dirty="0"/>
              <a:t>0–0,1 g/100 g</a:t>
            </a:r>
            <a:r>
              <a:rPr lang="fr-FR" sz="1400" dirty="0"/>
              <a:t>, dispersion minime.</a:t>
            </a:r>
          </a:p>
          <a:p>
            <a:endParaRPr lang="fr-FR" sz="1400" dirty="0"/>
          </a:p>
          <a:p>
            <a:r>
              <a:rPr lang="fr-FR" sz="1400" b="1" dirty="0"/>
              <a:t>- Modérés</a:t>
            </a:r>
            <a:r>
              <a:rPr lang="fr-FR" sz="1400" dirty="0"/>
              <a:t> : </a:t>
            </a:r>
            <a:r>
              <a:rPr lang="fr-FR" sz="1400" i="1" dirty="0"/>
              <a:t>Céréales &amp; pommes de terre</a:t>
            </a:r>
            <a:r>
              <a:rPr lang="fr-FR" sz="1400" dirty="0"/>
              <a:t> (</a:t>
            </a:r>
            <a:r>
              <a:rPr lang="fr-FR" sz="1400" b="1" dirty="0"/>
              <a:t>Med 0,6 g</a:t>
            </a:r>
            <a:r>
              <a:rPr lang="fr-FR" sz="1400" dirty="0"/>
              <a:t>), </a:t>
            </a:r>
            <a:r>
              <a:rPr lang="fr-FR" sz="1400" i="1" dirty="0"/>
              <a:t>Plats composés</a:t>
            </a:r>
            <a:r>
              <a:rPr lang="fr-FR" sz="1400" dirty="0"/>
              <a:t> (</a:t>
            </a:r>
            <a:r>
              <a:rPr lang="fr-FR" sz="1400" b="1" dirty="0"/>
              <a:t>Med 1,8 g</a:t>
            </a:r>
            <a:r>
              <a:rPr lang="fr-FR" sz="1400" dirty="0"/>
              <a:t>).</a:t>
            </a:r>
            <a:br>
              <a:rPr lang="fr-FR" sz="1400" dirty="0"/>
            </a:br>
            <a:r>
              <a:rPr lang="fr-FR" sz="1400" dirty="0"/>
              <a:t>→ Profil globalement </a:t>
            </a:r>
            <a:r>
              <a:rPr lang="fr-FR" sz="1400" b="1" dirty="0"/>
              <a:t>peu gras en saturés</a:t>
            </a:r>
            <a:r>
              <a:rPr lang="fr-FR" sz="1400" dirty="0"/>
              <a:t>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01B1510-3652-EFD7-F275-21FFCB49EE7F}"/>
              </a:ext>
            </a:extLst>
          </p:cNvPr>
          <p:cNvSpPr txBox="1"/>
          <p:nvPr/>
        </p:nvSpPr>
        <p:spPr>
          <a:xfrm>
            <a:off x="9936852" y="1826010"/>
            <a:ext cx="225514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>
                <a:solidFill>
                  <a:srgbClr val="84C6AD"/>
                </a:solidFill>
              </a:rPr>
              <a:t>Élevés / Très variables</a:t>
            </a:r>
          </a:p>
          <a:p>
            <a:pPr>
              <a:buNone/>
            </a:pPr>
            <a:endParaRPr lang="fr-FR" sz="1400" dirty="0">
              <a:solidFill>
                <a:srgbClr val="84C6AD"/>
              </a:solidFill>
            </a:endParaRPr>
          </a:p>
          <a:p>
            <a:r>
              <a:rPr lang="fr-FR" sz="1400" b="1" dirty="0"/>
              <a:t>- Élevés</a:t>
            </a:r>
            <a:r>
              <a:rPr lang="fr-FR" sz="1400" dirty="0"/>
              <a:t> : </a:t>
            </a:r>
            <a:r>
              <a:rPr lang="fr-FR" sz="1400" i="1" dirty="0"/>
              <a:t>Snacks sucrés</a:t>
            </a:r>
            <a:r>
              <a:rPr lang="fr-FR" sz="1400" dirty="0"/>
              <a:t> (</a:t>
            </a:r>
            <a:r>
              <a:rPr lang="fr-FR" sz="1400" b="1" dirty="0"/>
              <a:t>Med 9,3 g</a:t>
            </a:r>
            <a:r>
              <a:rPr lang="fr-FR" sz="1400" dirty="0"/>
              <a:t>), </a:t>
            </a:r>
            <a:r>
              <a:rPr lang="fr-FR" sz="1400" i="1" dirty="0"/>
              <a:t>Produits laitiers</a:t>
            </a:r>
            <a:r>
              <a:rPr lang="fr-FR" sz="1400" dirty="0"/>
              <a:t> (</a:t>
            </a:r>
            <a:r>
              <a:rPr lang="fr-FR" sz="1400" b="1" dirty="0"/>
              <a:t>Med 5,9 g</a:t>
            </a:r>
            <a:r>
              <a:rPr lang="fr-FR" sz="1400" dirty="0"/>
              <a:t>, </a:t>
            </a:r>
            <a:r>
              <a:rPr lang="fr-FR" sz="1400" b="1" dirty="0"/>
              <a:t>IQR 15,1</a:t>
            </a:r>
            <a:r>
              <a:rPr lang="fr-FR" sz="1400" dirty="0"/>
              <a:t>),</a:t>
            </a:r>
            <a:br>
              <a:rPr lang="fr-FR" sz="1400" dirty="0"/>
            </a:br>
            <a:r>
              <a:rPr lang="fr-FR" sz="1400" i="1" dirty="0"/>
              <a:t>Snacks salés</a:t>
            </a:r>
            <a:r>
              <a:rPr lang="fr-FR" sz="1400" dirty="0"/>
              <a:t> (</a:t>
            </a:r>
            <a:r>
              <a:rPr lang="fr-FR" sz="1400" b="1" dirty="0"/>
              <a:t>Med 3,46 g</a:t>
            </a:r>
            <a:r>
              <a:rPr lang="fr-FR" sz="1400" dirty="0"/>
              <a:t>), </a:t>
            </a:r>
            <a:r>
              <a:rPr lang="fr-FR" sz="1400" i="1" dirty="0"/>
              <a:t>Graisses &amp; sauces</a:t>
            </a:r>
            <a:r>
              <a:rPr lang="fr-FR" sz="1400" dirty="0"/>
              <a:t> (</a:t>
            </a:r>
            <a:r>
              <a:rPr lang="fr-FR" sz="1400" b="1" dirty="0"/>
              <a:t>Med 3,5 g</a:t>
            </a:r>
            <a:r>
              <a:rPr lang="fr-FR" sz="1400" dirty="0"/>
              <a:t>, </a:t>
            </a:r>
            <a:r>
              <a:rPr lang="fr-FR" sz="1400" b="1" dirty="0"/>
              <a:t>IQR 12,4</a:t>
            </a:r>
            <a:r>
              <a:rPr lang="fr-FR" sz="1400" dirty="0"/>
              <a:t>).</a:t>
            </a:r>
            <a:br>
              <a:rPr lang="fr-FR" sz="1400" dirty="0"/>
            </a:br>
            <a:r>
              <a:rPr lang="fr-FR" sz="1400" dirty="0"/>
              <a:t>→ </a:t>
            </a:r>
            <a:r>
              <a:rPr lang="fr-FR" sz="1400" b="1" dirty="0"/>
              <a:t>Beaucoup de saturés</a:t>
            </a:r>
            <a:r>
              <a:rPr lang="fr-FR" sz="1400" dirty="0"/>
              <a:t> et </a:t>
            </a:r>
            <a:r>
              <a:rPr lang="fr-FR" sz="1400" b="1" dirty="0"/>
              <a:t>forte hétérogénéité</a:t>
            </a:r>
            <a:r>
              <a:rPr lang="fr-FR" sz="1400" dirty="0"/>
              <a:t> (surtout laitiers &amp; sauces).</a:t>
            </a:r>
          </a:p>
          <a:p>
            <a:endParaRPr lang="fr-FR" sz="1400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A51D26E0-999D-3892-A4D4-6ADEDAD54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91" y="1528601"/>
            <a:ext cx="7238957" cy="3599628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78257A18-21AE-5D3B-FB09-69FB166ABBBF}"/>
              </a:ext>
            </a:extLst>
          </p:cNvPr>
          <p:cNvSpPr txBox="1"/>
          <p:nvPr/>
        </p:nvSpPr>
        <p:spPr>
          <a:xfrm>
            <a:off x="2484747" y="5510783"/>
            <a:ext cx="723895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1400" b="1" dirty="0">
                <a:solidFill>
                  <a:schemeClr val="accent1"/>
                </a:solidFill>
              </a:rPr>
              <a:t>Intérêt pour la prédiction PNNS</a:t>
            </a:r>
          </a:p>
          <a:p>
            <a:pPr algn="ctr">
              <a:buNone/>
            </a:pPr>
            <a:endParaRPr lang="fr-FR" sz="1400" dirty="0">
              <a:solidFill>
                <a:schemeClr val="accent1"/>
              </a:solidFill>
            </a:endParaRPr>
          </a:p>
          <a:p>
            <a:r>
              <a:rPr lang="fr-FR" sz="1400" dirty="0"/>
              <a:t>- Les </a:t>
            </a:r>
            <a:r>
              <a:rPr lang="fr-FR" sz="1400" b="1" dirty="0"/>
              <a:t>médianes/IQR distincts par groupe</a:t>
            </a:r>
            <a:r>
              <a:rPr lang="fr-FR" sz="1400" dirty="0"/>
              <a:t> offrent des </a:t>
            </a:r>
            <a:r>
              <a:rPr lang="fr-FR" sz="1400" b="1" dirty="0"/>
              <a:t>signaux discriminants</a:t>
            </a:r>
            <a:r>
              <a:rPr lang="fr-FR" sz="1400" dirty="0"/>
              <a:t>.</a:t>
            </a:r>
          </a:p>
          <a:p>
            <a:r>
              <a:rPr lang="fr-FR" sz="1400" dirty="0"/>
              <a:t>- Intégrer </a:t>
            </a:r>
            <a:r>
              <a:rPr lang="fr-FR" sz="1400" i="1" dirty="0"/>
              <a:t>saturated-fat_100g</a:t>
            </a:r>
            <a:r>
              <a:rPr lang="fr-FR" sz="1400" dirty="0"/>
              <a:t> (avec </a:t>
            </a:r>
            <a:r>
              <a:rPr lang="fr-FR" sz="1400" i="1" dirty="0"/>
              <a:t>fat_100g</a:t>
            </a:r>
            <a:r>
              <a:rPr lang="fr-FR" sz="1400" dirty="0"/>
              <a:t>) </a:t>
            </a:r>
            <a:r>
              <a:rPr lang="fr-FR" sz="1400" b="1" dirty="0"/>
              <a:t>améliorera la séparation</a:t>
            </a:r>
            <a:r>
              <a:rPr lang="fr-FR" sz="1400" dirty="0"/>
              <a:t> de classes PNNS, notamment entre </a:t>
            </a:r>
            <a:r>
              <a:rPr lang="fr-FR" sz="1400" i="1" dirty="0"/>
              <a:t>boissons/fruits</a:t>
            </a:r>
            <a:r>
              <a:rPr lang="fr-FR" sz="1400" dirty="0"/>
              <a:t> (très faibles) et </a:t>
            </a:r>
            <a:r>
              <a:rPr lang="fr-FR" sz="1400" i="1" dirty="0"/>
              <a:t>snacks/laitiers/sauces</a:t>
            </a:r>
            <a:r>
              <a:rPr lang="fr-FR" sz="1400" dirty="0"/>
              <a:t> (élevés).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785" y="181428"/>
            <a:ext cx="3065226" cy="697992"/>
          </a:xfrm>
        </p:spPr>
        <p:txBody>
          <a:bodyPr/>
          <a:lstStyle/>
          <a:p>
            <a:pPr algn="ctr"/>
            <a:r>
              <a:rPr lang="fr-FR" noProof="0" dirty="0"/>
              <a:t>Corrélations</a:t>
            </a: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A0E48A-1259-313B-C5EE-B73C7CD7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5" y="962799"/>
            <a:ext cx="6164446" cy="571986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52C297-D313-82B8-3A6D-4E541059AB17}"/>
              </a:ext>
            </a:extLst>
          </p:cNvPr>
          <p:cNvSpPr/>
          <p:nvPr/>
        </p:nvSpPr>
        <p:spPr>
          <a:xfrm>
            <a:off x="6421073" y="135044"/>
            <a:ext cx="5635752" cy="15441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84C6AD"/>
                </a:solidFill>
              </a:rPr>
              <a:t>Corrélations fortes (attendues)</a:t>
            </a:r>
          </a:p>
          <a:p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Sel ↔ Sodium = 1.00</a:t>
            </a:r>
            <a:r>
              <a:rPr lang="fr-FR" sz="1400" dirty="0"/>
              <a:t> → redondants.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Énergie ↔ Lipides = 0.80</a:t>
            </a:r>
            <a:r>
              <a:rPr lang="fr-FR" sz="1400" dirty="0"/>
              <a:t> ; </a:t>
            </a:r>
            <a:r>
              <a:rPr lang="fr-FR" sz="1400" b="1" dirty="0"/>
              <a:t>Saturés ↔ Lipides = 0.75</a:t>
            </a:r>
            <a:r>
              <a:rPr lang="fr-F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Glucides ↔ Sucres = 0.63</a:t>
            </a:r>
            <a:r>
              <a:rPr lang="fr-FR" sz="1400" dirty="0"/>
              <a:t> ; </a:t>
            </a:r>
            <a:r>
              <a:rPr lang="fr-FR" sz="1400" b="1" dirty="0"/>
              <a:t>Énergie ↔ Glucides = 0.52</a:t>
            </a:r>
            <a:r>
              <a:rPr lang="fr-FR" sz="1400"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7393C5-7FBF-72AF-1FD9-D0DD4E76CD6A}"/>
              </a:ext>
            </a:extLst>
          </p:cNvPr>
          <p:cNvSpPr/>
          <p:nvPr/>
        </p:nvSpPr>
        <p:spPr>
          <a:xfrm>
            <a:off x="6421073" y="3486280"/>
            <a:ext cx="5635752" cy="15441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1"/>
                </a:solidFill>
              </a:rPr>
              <a:t>Faibles corrélations</a:t>
            </a:r>
          </a:p>
          <a:p>
            <a:pPr algn="ctr"/>
            <a:endParaRPr lang="fr-FR" sz="1400" b="1" dirty="0">
              <a:solidFill>
                <a:schemeClr val="accent1"/>
              </a:solidFill>
            </a:endParaRPr>
          </a:p>
          <a:p>
            <a:r>
              <a:rPr lang="fr-FR" sz="1400" b="1" dirty="0"/>
              <a:t>Protéines</a:t>
            </a:r>
            <a:r>
              <a:rPr lang="fr-FR" sz="1400" dirty="0"/>
              <a:t> : pas de r ≥ 0.5 notable.</a:t>
            </a:r>
          </a:p>
          <a:p>
            <a:r>
              <a:rPr lang="fr-FR" sz="1400" b="1" dirty="0"/>
              <a:t>Additifs / Huile de palme</a:t>
            </a:r>
            <a:r>
              <a:rPr lang="fr-FR" sz="1400" dirty="0"/>
              <a:t> : peu liés aux nutriments → </a:t>
            </a:r>
            <a:r>
              <a:rPr lang="fr-FR" sz="1400" b="1" dirty="0"/>
              <a:t>signal complémentaire pour les prédictions</a:t>
            </a:r>
            <a:r>
              <a:rPr lang="fr-FR" sz="1400" dirty="0"/>
              <a:t>.</a:t>
            </a:r>
          </a:p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86C21-5D0A-4E4B-1A71-9648F1DBBE92}"/>
              </a:ext>
            </a:extLst>
          </p:cNvPr>
          <p:cNvSpPr/>
          <p:nvPr/>
        </p:nvSpPr>
        <p:spPr>
          <a:xfrm>
            <a:off x="6421073" y="1812800"/>
            <a:ext cx="5635752" cy="15441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5F8EEB"/>
                </a:solidFill>
              </a:rPr>
              <a:t>Lien avec le Nutri-Score</a:t>
            </a:r>
          </a:p>
          <a:p>
            <a:endParaRPr lang="fr-FR" sz="1400" b="1" dirty="0">
              <a:solidFill>
                <a:srgbClr val="5F8EE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NS ↔ Énergie = 0.62</a:t>
            </a:r>
            <a:r>
              <a:rPr lang="fr-FR" sz="1400" dirty="0"/>
              <a:t>, </a:t>
            </a:r>
            <a:r>
              <a:rPr lang="fr-FR" sz="1400" b="1" dirty="0"/>
              <a:t>NS ↔ Lipides = 0.57</a:t>
            </a:r>
            <a:r>
              <a:rPr lang="fr-FR" sz="1400" dirty="0"/>
              <a:t>, </a:t>
            </a:r>
            <a:r>
              <a:rPr lang="fr-FR" sz="1400" b="1" dirty="0"/>
              <a:t>NS ↔ Saturés = 0.60</a:t>
            </a:r>
            <a:r>
              <a:rPr lang="fr-FR" sz="1400" dirty="0"/>
              <a:t>.</a:t>
            </a:r>
          </a:p>
          <a:p>
            <a:r>
              <a:rPr lang="fr-FR" sz="1400" dirty="0"/>
              <a:t>→ Le score est surtout pénalisé par densité énergétique et graisses.</a:t>
            </a:r>
          </a:p>
          <a:p>
            <a:pPr algn="ctr"/>
            <a:endParaRPr lang="fr-FR" dirty="0"/>
          </a:p>
        </p:txBody>
      </p:sp>
      <p:sp>
        <p:nvSpPr>
          <p:cNvPr id="15" name="Organigramme : Fusion 14">
            <a:extLst>
              <a:ext uri="{FF2B5EF4-FFF2-40B4-BE49-F238E27FC236}">
                <a16:creationId xmlns:a16="http://schemas.microsoft.com/office/drawing/2014/main" id="{71C669A4-237F-7D21-6F35-48129C90FCB3}"/>
              </a:ext>
            </a:extLst>
          </p:cNvPr>
          <p:cNvSpPr/>
          <p:nvPr/>
        </p:nvSpPr>
        <p:spPr>
          <a:xfrm>
            <a:off x="10528437" y="5068703"/>
            <a:ext cx="777240" cy="186866"/>
          </a:xfrm>
          <a:prstGeom prst="flowChartMerg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Organigramme : Fusion 15">
            <a:extLst>
              <a:ext uri="{FF2B5EF4-FFF2-40B4-BE49-F238E27FC236}">
                <a16:creationId xmlns:a16="http://schemas.microsoft.com/office/drawing/2014/main" id="{1264FB84-1BC0-6951-7F53-8A738A2B1069}"/>
              </a:ext>
            </a:extLst>
          </p:cNvPr>
          <p:cNvSpPr/>
          <p:nvPr/>
        </p:nvSpPr>
        <p:spPr>
          <a:xfrm>
            <a:off x="7151531" y="5068703"/>
            <a:ext cx="777240" cy="186866"/>
          </a:xfrm>
          <a:prstGeom prst="flowChartMerg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5ECD4B6-9D4B-CD26-FC45-6178F9A16D05}"/>
              </a:ext>
            </a:extLst>
          </p:cNvPr>
          <p:cNvSpPr txBox="1"/>
          <p:nvPr/>
        </p:nvSpPr>
        <p:spPr>
          <a:xfrm>
            <a:off x="6421073" y="5297673"/>
            <a:ext cx="5635752" cy="138499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fr-FR" sz="1400" b="1" dirty="0"/>
              <a:t>À retenir / décisions</a:t>
            </a:r>
          </a:p>
          <a:p>
            <a:pPr algn="ctr">
              <a:buNone/>
            </a:pPr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Dédupliquer</a:t>
            </a:r>
            <a:r>
              <a:rPr lang="fr-FR" sz="1400" dirty="0"/>
              <a:t> : garder </a:t>
            </a:r>
            <a:r>
              <a:rPr lang="fr-FR" sz="1400" b="1" dirty="0"/>
              <a:t>sel</a:t>
            </a:r>
            <a:r>
              <a:rPr lang="fr-FR" sz="1400" dirty="0"/>
              <a:t> </a:t>
            </a:r>
            <a:r>
              <a:rPr lang="fr-FR" sz="1400" i="1" dirty="0"/>
              <a:t>ou</a:t>
            </a:r>
            <a:r>
              <a:rPr lang="fr-FR" sz="1400" dirty="0"/>
              <a:t> </a:t>
            </a:r>
            <a:r>
              <a:rPr lang="fr-FR" sz="1400" b="1" dirty="0"/>
              <a:t>sodium</a:t>
            </a:r>
            <a:r>
              <a:rPr lang="fr-FR" sz="1400" dirty="0"/>
              <a:t> (pas les deux).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Surveiller les </a:t>
            </a:r>
            <a:r>
              <a:rPr lang="fr-FR" sz="1400" b="1" dirty="0"/>
              <a:t>variables très corrélées</a:t>
            </a:r>
            <a:r>
              <a:rPr lang="fr-FR" sz="1400" dirty="0"/>
              <a:t> (lipides, saturés, énergie) dans les modèles.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Conserver </a:t>
            </a:r>
            <a:r>
              <a:rPr lang="fr-FR" sz="1400" b="1" dirty="0"/>
              <a:t>additifs/palme</a:t>
            </a:r>
            <a:r>
              <a:rPr lang="fr-FR" sz="1400" dirty="0"/>
              <a:t> pour un </a:t>
            </a:r>
            <a:r>
              <a:rPr lang="fr-FR" sz="1400" b="1" dirty="0"/>
              <a:t>signal indépendant</a:t>
            </a:r>
            <a:r>
              <a:rPr lang="fr-FR" sz="14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6404"/>
          </a:xfrm>
        </p:spPr>
        <p:txBody>
          <a:bodyPr/>
          <a:lstStyle/>
          <a:p>
            <a:r>
              <a:rPr dirty="0"/>
              <a:t>ACP — </a:t>
            </a:r>
            <a:r>
              <a:rPr dirty="0" err="1"/>
              <a:t>Éboulis</a:t>
            </a:r>
            <a:r>
              <a:rPr dirty="0"/>
              <a:t> des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propres</a:t>
            </a: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0604515-E519-3981-3371-1710B56F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96004"/>
            <a:ext cx="6516009" cy="51632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BECF12-B0AD-6194-1AA6-2DB100E0A010}"/>
              </a:ext>
            </a:extLst>
          </p:cNvPr>
          <p:cNvSpPr/>
          <p:nvPr/>
        </p:nvSpPr>
        <p:spPr>
          <a:xfrm>
            <a:off x="491099" y="1389888"/>
            <a:ext cx="4443306" cy="1612392"/>
          </a:xfrm>
          <a:prstGeom prst="rect">
            <a:avLst/>
          </a:prstGeom>
          <a:noFill/>
          <a:ln w="38100" cap="flat" cmpd="sng" algn="ctr">
            <a:solidFill>
              <a:srgbClr val="84C6A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84C6AD"/>
                </a:solidFill>
              </a:rPr>
              <a:t>Lecture rapide</a:t>
            </a:r>
          </a:p>
          <a:p>
            <a:endParaRPr lang="fr-FR" sz="1400" dirty="0">
              <a:solidFill>
                <a:srgbClr val="84C6A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PC1–PC3 (~62 %) : PC1–PC2 / PC1–PC3 suffisent pour voir les écarts PNNS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PC1–PC4 = </a:t>
            </a:r>
            <a:r>
              <a:rPr lang="fr-FR" sz="1400" b="1" dirty="0">
                <a:solidFill>
                  <a:schemeClr val="tx1"/>
                </a:solidFill>
              </a:rPr>
              <a:t>≈72%</a:t>
            </a:r>
            <a:r>
              <a:rPr lang="fr-FR" sz="1400" dirty="0">
                <a:solidFill>
                  <a:schemeClr val="tx1"/>
                </a:solidFill>
              </a:rPr>
              <a:t> / PC1–PC5 = </a:t>
            </a:r>
            <a:r>
              <a:rPr lang="fr-FR" sz="1400" b="1" dirty="0">
                <a:solidFill>
                  <a:schemeClr val="tx1"/>
                </a:solidFill>
              </a:rPr>
              <a:t>≈81%</a:t>
            </a:r>
            <a:endParaRPr lang="fr-FR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tx1"/>
                </a:solidFill>
              </a:rPr>
              <a:t>Coude</a:t>
            </a:r>
            <a:r>
              <a:rPr lang="fr-FR" sz="1400" dirty="0">
                <a:solidFill>
                  <a:schemeClr val="tx1"/>
                </a:solidFill>
              </a:rPr>
              <a:t> vers </a:t>
            </a:r>
            <a:r>
              <a:rPr lang="fr-FR" sz="1400" b="1" dirty="0">
                <a:solidFill>
                  <a:schemeClr val="tx1"/>
                </a:solidFill>
              </a:rPr>
              <a:t>PC4–PC5</a:t>
            </a:r>
            <a:r>
              <a:rPr lang="fr-FR" sz="1400" dirty="0">
                <a:solidFill>
                  <a:schemeClr val="tx1"/>
                </a:solidFill>
              </a:rPr>
              <a:t> : gains ensuite </a:t>
            </a:r>
            <a:r>
              <a:rPr lang="fr-FR" sz="1400" b="1" dirty="0">
                <a:solidFill>
                  <a:schemeClr val="tx1"/>
                </a:solidFill>
              </a:rPr>
              <a:t>marginaux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9523C3-8786-59C6-2772-2B8442AB210C}"/>
              </a:ext>
            </a:extLst>
          </p:cNvPr>
          <p:cNvSpPr/>
          <p:nvPr/>
        </p:nvSpPr>
        <p:spPr>
          <a:xfrm>
            <a:off x="491099" y="4949910"/>
            <a:ext cx="4443306" cy="161239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Décision pour ce projet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Pour </a:t>
            </a:r>
            <a:r>
              <a:rPr lang="fr-FR" sz="1400" b="1" dirty="0">
                <a:solidFill>
                  <a:schemeClr val="tx1"/>
                </a:solidFill>
              </a:rPr>
              <a:t>visualiser/interpréter</a:t>
            </a:r>
            <a:r>
              <a:rPr lang="fr-FR" sz="1400" dirty="0">
                <a:solidFill>
                  <a:schemeClr val="tx1"/>
                </a:solidFill>
              </a:rPr>
              <a:t> : </a:t>
            </a:r>
            <a:r>
              <a:rPr lang="fr-FR" sz="1400" b="1" dirty="0">
                <a:solidFill>
                  <a:schemeClr val="tx1"/>
                </a:solidFill>
              </a:rPr>
              <a:t>PC1–PC3</a:t>
            </a:r>
            <a:r>
              <a:rPr lang="fr-FR" sz="1400" dirty="0">
                <a:solidFill>
                  <a:schemeClr val="tx1"/>
                </a:solidFill>
              </a:rPr>
              <a:t> (≈</a:t>
            </a:r>
            <a:r>
              <a:rPr lang="fr-FR" sz="1400" b="1" dirty="0">
                <a:solidFill>
                  <a:schemeClr val="tx1"/>
                </a:solidFill>
              </a:rPr>
              <a:t>61.9%</a:t>
            </a:r>
            <a:r>
              <a:rPr lang="fr-FR" sz="1400" dirty="0">
                <a:solidFill>
                  <a:schemeClr val="tx1"/>
                </a:solidFill>
              </a:rPr>
              <a:t> cumulée).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Pour une </a:t>
            </a:r>
            <a:r>
              <a:rPr lang="fr-FR" sz="1400" b="1" dirty="0">
                <a:solidFill>
                  <a:schemeClr val="tx1"/>
                </a:solidFill>
              </a:rPr>
              <a:t>réduction plus fidèle</a:t>
            </a:r>
            <a:r>
              <a:rPr lang="fr-FR" sz="1400" dirty="0">
                <a:solidFill>
                  <a:schemeClr val="tx1"/>
                </a:solidFill>
              </a:rPr>
              <a:t> : garder </a:t>
            </a:r>
            <a:r>
              <a:rPr lang="fr-FR" sz="1400" b="1" dirty="0">
                <a:solidFill>
                  <a:schemeClr val="tx1"/>
                </a:solidFill>
              </a:rPr>
              <a:t>4–5 PC</a:t>
            </a:r>
            <a:r>
              <a:rPr lang="fr-FR" sz="1400" dirty="0">
                <a:solidFill>
                  <a:schemeClr val="tx1"/>
                </a:solidFill>
              </a:rPr>
              <a:t> si nécessaire plus tard.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24F22D-43B6-88B0-2090-46E24F137099}"/>
              </a:ext>
            </a:extLst>
          </p:cNvPr>
          <p:cNvSpPr/>
          <p:nvPr/>
        </p:nvSpPr>
        <p:spPr>
          <a:xfrm>
            <a:off x="491099" y="3171443"/>
            <a:ext cx="4443306" cy="1612392"/>
          </a:xfrm>
          <a:prstGeom prst="rect">
            <a:avLst/>
          </a:prstGeom>
          <a:noFill/>
          <a:ln w="38100" cap="flat" cmpd="sng" algn="ctr">
            <a:solidFill>
              <a:srgbClr val="5F8EEB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5F8EEB"/>
                </a:solidFill>
              </a:rPr>
              <a:t>Règles usuelles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tx1"/>
                </a:solidFill>
              </a:rPr>
              <a:t>≥80% de variance</a:t>
            </a:r>
            <a:r>
              <a:rPr lang="fr-FR" sz="1400" dirty="0">
                <a:solidFill>
                  <a:schemeClr val="tx1"/>
                </a:solidFill>
              </a:rPr>
              <a:t> → </a:t>
            </a:r>
            <a:r>
              <a:rPr lang="fr-FR" sz="1400" b="1" dirty="0">
                <a:solidFill>
                  <a:schemeClr val="tx1"/>
                </a:solidFill>
              </a:rPr>
              <a:t>k = 5</a:t>
            </a:r>
            <a:endParaRPr lang="fr-FR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tx1"/>
                </a:solidFill>
              </a:rPr>
              <a:t>Kaiser (λ ≥ moyenne ≈ 10%)</a:t>
            </a:r>
            <a:r>
              <a:rPr lang="fr-FR" sz="1400" dirty="0">
                <a:solidFill>
                  <a:schemeClr val="tx1"/>
                </a:solidFill>
              </a:rPr>
              <a:t> → </a:t>
            </a:r>
            <a:r>
              <a:rPr lang="fr-FR" sz="1400" b="1" dirty="0">
                <a:solidFill>
                  <a:schemeClr val="tx1"/>
                </a:solidFill>
              </a:rPr>
              <a:t>k = 4</a:t>
            </a:r>
            <a:endParaRPr lang="fr-FR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Les deux choix sont </a:t>
            </a:r>
            <a:r>
              <a:rPr lang="fr-FR" sz="1400" b="1" dirty="0">
                <a:solidFill>
                  <a:schemeClr val="tx1"/>
                </a:solidFill>
              </a:rPr>
              <a:t>cohérents</a:t>
            </a:r>
            <a:r>
              <a:rPr lang="fr-FR" sz="1400" dirty="0">
                <a:solidFill>
                  <a:schemeClr val="tx1"/>
                </a:solidFill>
              </a:rPr>
              <a:t> selon l’objectif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666" y="203150"/>
            <a:ext cx="8596668" cy="685794"/>
          </a:xfrm>
        </p:spPr>
        <p:txBody>
          <a:bodyPr/>
          <a:lstStyle/>
          <a:p>
            <a:pPr algn="ctr"/>
            <a:r>
              <a:rPr dirty="0"/>
              <a:t>ACP — Cercles de </a:t>
            </a:r>
            <a:r>
              <a:rPr dirty="0" err="1"/>
              <a:t>corrélation</a:t>
            </a:r>
            <a:endParaRPr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D0A8726-7445-5205-E1AE-3B9F86DD4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32" y="940408"/>
            <a:ext cx="3572144" cy="32181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B2B6E64-AC66-AC86-47DA-6D3C94D91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769" y="940407"/>
            <a:ext cx="3543729" cy="321818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2087B51-3032-8BA7-6904-0F825BE3F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91" y="940408"/>
            <a:ext cx="3512877" cy="3218189"/>
          </a:xfrm>
          <a:prstGeom prst="rect">
            <a:avLst/>
          </a:prstGeom>
        </p:spPr>
      </p:pic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FC6BE223-D647-8054-E7B8-AFFD02CFB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137061"/>
              </p:ext>
            </p:extLst>
          </p:nvPr>
        </p:nvGraphicFramePr>
        <p:xfrm>
          <a:off x="440804" y="4328197"/>
          <a:ext cx="11311263" cy="1559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770421">
                  <a:extLst>
                    <a:ext uri="{9D8B030D-6E8A-4147-A177-3AD203B41FA5}">
                      <a16:colId xmlns:a16="http://schemas.microsoft.com/office/drawing/2014/main" val="822029848"/>
                    </a:ext>
                  </a:extLst>
                </a:gridCol>
                <a:gridCol w="3770421">
                  <a:extLst>
                    <a:ext uri="{9D8B030D-6E8A-4147-A177-3AD203B41FA5}">
                      <a16:colId xmlns:a16="http://schemas.microsoft.com/office/drawing/2014/main" val="1539913184"/>
                    </a:ext>
                  </a:extLst>
                </a:gridCol>
                <a:gridCol w="3770421">
                  <a:extLst>
                    <a:ext uri="{9D8B030D-6E8A-4147-A177-3AD203B41FA5}">
                      <a16:colId xmlns:a16="http://schemas.microsoft.com/office/drawing/2014/main" val="23066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accent1"/>
                          </a:solidFill>
                        </a:rPr>
                        <a:t>PC1</a:t>
                      </a:r>
                      <a:r>
                        <a:rPr lang="fr-FR" dirty="0"/>
                        <a:t>–</a:t>
                      </a:r>
                      <a:r>
                        <a:rPr lang="fr-FR" dirty="0">
                          <a:solidFill>
                            <a:srgbClr val="5F8EEB"/>
                          </a:solidFill>
                        </a:rPr>
                        <a:t>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accent1"/>
                          </a:solidFill>
                        </a:rPr>
                        <a:t>PC1</a:t>
                      </a:r>
                      <a:r>
                        <a:rPr lang="fr-FR" dirty="0"/>
                        <a:t>–</a:t>
                      </a:r>
                      <a:r>
                        <a:rPr lang="fr-FR" dirty="0">
                          <a:solidFill>
                            <a:srgbClr val="84C6AD"/>
                          </a:solidFill>
                        </a:rPr>
                        <a:t>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5F8EEB"/>
                          </a:solidFill>
                        </a:rPr>
                        <a:t>PC2</a:t>
                      </a:r>
                      <a:r>
                        <a:rPr lang="fr-FR" dirty="0"/>
                        <a:t>–</a:t>
                      </a:r>
                      <a:r>
                        <a:rPr lang="fr-FR" dirty="0">
                          <a:solidFill>
                            <a:srgbClr val="84C6AD"/>
                          </a:solidFill>
                        </a:rPr>
                        <a:t>PC3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39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</a:rPr>
                        <a:t>PC1</a:t>
                      </a:r>
                      <a:r>
                        <a:rPr lang="fr-FR" sz="1200" b="1" dirty="0"/>
                        <a:t> = énergie &amp; lipides</a:t>
                      </a:r>
                      <a:r>
                        <a:rPr lang="fr-FR" sz="1200" dirty="0"/>
                        <a:t> (</a:t>
                      </a:r>
                      <a:r>
                        <a:rPr lang="fr-FR" sz="1200" dirty="0" err="1"/>
                        <a:t>energy</a:t>
                      </a:r>
                      <a:r>
                        <a:rPr lang="fr-FR" sz="1200" dirty="0"/>
                        <a:t>, fat, </a:t>
                      </a:r>
                      <a:r>
                        <a:rPr lang="fr-FR" sz="1200" dirty="0" err="1"/>
                        <a:t>sat</a:t>
                      </a:r>
                      <a:r>
                        <a:rPr lang="fr-FR" sz="1200" dirty="0"/>
                        <a:t>-fat) → droite = produits denses/gras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5F8EEB"/>
                          </a:solidFill>
                        </a:rPr>
                        <a:t>PC2</a:t>
                      </a:r>
                      <a:r>
                        <a:rPr lang="fr-FR" sz="1200" b="1" dirty="0"/>
                        <a:t> = sucré/glucidique vs salé/protéiné</a:t>
                      </a:r>
                      <a:r>
                        <a:rPr lang="fr-FR" sz="1200" dirty="0"/>
                        <a:t> → haut = (</a:t>
                      </a:r>
                      <a:r>
                        <a:rPr lang="fr-FR" sz="1200" dirty="0" err="1"/>
                        <a:t>carbs</a:t>
                      </a:r>
                      <a:r>
                        <a:rPr lang="fr-FR" sz="1200" dirty="0"/>
                        <a:t>, </a:t>
                      </a:r>
                      <a:r>
                        <a:rPr lang="fr-FR" sz="1200" dirty="0" err="1"/>
                        <a:t>sugars</a:t>
                      </a:r>
                      <a:r>
                        <a:rPr lang="fr-FR" sz="1200" dirty="0"/>
                        <a:t>) ; bas = (</a:t>
                      </a:r>
                      <a:r>
                        <a:rPr lang="fr-FR" sz="1200" dirty="0" err="1"/>
                        <a:t>proteins</a:t>
                      </a:r>
                      <a:r>
                        <a:rPr lang="fr-FR" sz="1200" dirty="0"/>
                        <a:t>, sel)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Lecture</a:t>
                      </a:r>
                      <a:r>
                        <a:rPr lang="fr-FR" sz="1200" dirty="0"/>
                        <a:t> : lipides ↔ énergie ; sucres ↔ glucides ; protéines opposées aux sucres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</a:rPr>
                        <a:t>PC1</a:t>
                      </a:r>
                      <a:r>
                        <a:rPr lang="fr-FR" sz="1200" b="1" dirty="0"/>
                        <a:t> = énergie &amp; lipides</a:t>
                      </a:r>
                      <a:r>
                        <a:rPr lang="fr-FR" sz="1200" dirty="0"/>
                        <a:t> (inchangé).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84C6AD"/>
                          </a:solidFill>
                        </a:rPr>
                        <a:t>PC3</a:t>
                      </a:r>
                      <a:r>
                        <a:rPr lang="fr-FR" sz="1200" b="1" dirty="0"/>
                        <a:t> = transformation</a:t>
                      </a:r>
                      <a:r>
                        <a:rPr lang="fr-FR" sz="1200" dirty="0"/>
                        <a:t> → (additifs, palme, un peu sel) en haut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Lecture</a:t>
                      </a:r>
                      <a:r>
                        <a:rPr lang="fr-FR" sz="1200" dirty="0"/>
                        <a:t> : dimension “additifs/palme” </a:t>
                      </a:r>
                      <a:r>
                        <a:rPr lang="fr-FR" sz="1200" b="1" dirty="0"/>
                        <a:t>orthogonale</a:t>
                      </a:r>
                      <a:r>
                        <a:rPr lang="fr-FR" sz="1200" dirty="0"/>
                        <a:t> au simple niveau d’énergie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5F8EEB"/>
                          </a:solidFill>
                        </a:rPr>
                        <a:t>PC2</a:t>
                      </a:r>
                      <a:r>
                        <a:rPr lang="fr-FR" sz="1200" b="1" dirty="0"/>
                        <a:t> = sucré (→) vs salé/protéiné (←)</a:t>
                      </a:r>
                      <a:r>
                        <a:rPr lang="fr-FR" sz="12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84C6AD"/>
                          </a:solidFill>
                        </a:rPr>
                        <a:t>PC3</a:t>
                      </a:r>
                      <a:r>
                        <a:rPr lang="fr-FR" sz="1200" b="1" dirty="0"/>
                        <a:t> = transformation (↑)</a:t>
                      </a:r>
                      <a:r>
                        <a:rPr lang="fr-FR" sz="1200" dirty="0"/>
                        <a:t> → additifs/palme/sel montent.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/>
                        <a:t>Lecture</a:t>
                      </a:r>
                      <a:r>
                        <a:rPr lang="fr-FR" sz="1200" dirty="0"/>
                        <a:t> : sucré peu transformé (↓/→) vs sucré très transformé (↑/→) ; salé/protéiné souvent plus transformé (↑/←).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805468"/>
                  </a:ext>
                </a:extLst>
              </a:tr>
            </a:tbl>
          </a:graphicData>
        </a:graphic>
      </p:graphicFrame>
      <p:sp>
        <p:nvSpPr>
          <p:cNvPr id="20" name="ZoneTexte 19">
            <a:extLst>
              <a:ext uri="{FF2B5EF4-FFF2-40B4-BE49-F238E27FC236}">
                <a16:creationId xmlns:a16="http://schemas.microsoft.com/office/drawing/2014/main" id="{9375C718-E108-5455-B4F5-6A33DC96130C}"/>
              </a:ext>
            </a:extLst>
          </p:cNvPr>
          <p:cNvSpPr txBox="1"/>
          <p:nvPr/>
        </p:nvSpPr>
        <p:spPr>
          <a:xfrm>
            <a:off x="439932" y="5951765"/>
            <a:ext cx="113112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/>
              <a:t>Conclusion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PC1</a:t>
            </a:r>
            <a:r>
              <a:rPr lang="fr-FR" sz="1400" dirty="0"/>
              <a:t> porte le </a:t>
            </a:r>
            <a:r>
              <a:rPr lang="fr-FR" sz="1400" b="1" dirty="0"/>
              <a:t>gras/énergie</a:t>
            </a:r>
            <a:r>
              <a:rPr lang="fr-FR" sz="1400" dirty="0"/>
              <a:t> ; </a:t>
            </a:r>
            <a:r>
              <a:rPr lang="fr-FR" sz="1400" b="1" dirty="0"/>
              <a:t>PC2</a:t>
            </a:r>
            <a:r>
              <a:rPr lang="fr-FR" sz="1400" dirty="0"/>
              <a:t> sépare </a:t>
            </a:r>
            <a:r>
              <a:rPr lang="fr-FR" sz="1400" b="1" dirty="0"/>
              <a:t>sucré</a:t>
            </a:r>
            <a:r>
              <a:rPr lang="fr-FR" sz="1400" dirty="0"/>
              <a:t> vs </a:t>
            </a:r>
            <a:r>
              <a:rPr lang="fr-FR" sz="1400" b="1" dirty="0"/>
              <a:t>salé/protéiné</a:t>
            </a:r>
            <a:r>
              <a:rPr lang="fr-FR" sz="1400" dirty="0"/>
              <a:t> ; </a:t>
            </a:r>
            <a:r>
              <a:rPr lang="fr-FR" sz="1400" b="1" dirty="0"/>
              <a:t>PC3</a:t>
            </a:r>
            <a:r>
              <a:rPr lang="fr-FR" sz="1400" dirty="0"/>
              <a:t> ajoute le </a:t>
            </a:r>
            <a:r>
              <a:rPr lang="fr-FR" sz="1400" b="1" dirty="0"/>
              <a:t>niveau de transformation</a:t>
            </a:r>
            <a:r>
              <a:rPr lang="fr-F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Les trois plans se complètent pour </a:t>
            </a:r>
            <a:r>
              <a:rPr lang="fr-FR" sz="1400" b="1" dirty="0"/>
              <a:t>lire les profils PNNS</a:t>
            </a:r>
            <a:r>
              <a:rPr lang="fr-FR" sz="1400" dirty="0"/>
              <a:t> et guider la </a:t>
            </a:r>
            <a:r>
              <a:rPr lang="fr-FR" sz="1400" b="1" dirty="0"/>
              <a:t>prédiction de catégorie</a:t>
            </a:r>
            <a:r>
              <a:rPr lang="fr-FR" sz="14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022" y="441960"/>
            <a:ext cx="8596668" cy="762000"/>
          </a:xfrm>
        </p:spPr>
        <p:txBody>
          <a:bodyPr/>
          <a:lstStyle/>
          <a:p>
            <a:pPr algn="ctr"/>
            <a:r>
              <a:rPr dirty="0"/>
              <a:t>ACP — </a:t>
            </a:r>
            <a:r>
              <a:rPr dirty="0" err="1"/>
              <a:t>Centroïdes</a:t>
            </a:r>
            <a:r>
              <a:rPr dirty="0"/>
              <a:t> PNNS (PC1–PC2)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AE59356-567B-5249-ED00-6DA89541A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356" y="1435608"/>
            <a:ext cx="6912471" cy="53268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E614646-937B-6A76-7079-7ECAA1884284}"/>
              </a:ext>
            </a:extLst>
          </p:cNvPr>
          <p:cNvSpPr/>
          <p:nvPr/>
        </p:nvSpPr>
        <p:spPr>
          <a:xfrm>
            <a:off x="42672" y="1435608"/>
            <a:ext cx="5020057" cy="107899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84C6AD"/>
                </a:solidFill>
              </a:rPr>
              <a:t>Repères des axes</a:t>
            </a:r>
          </a:p>
          <a:p>
            <a:pPr algn="ctr"/>
            <a:endParaRPr lang="fr-FR" sz="1400" b="1" dirty="0"/>
          </a:p>
          <a:p>
            <a:r>
              <a:rPr lang="fr-FR" sz="1400" b="1" dirty="0"/>
              <a:t>PC1 +</a:t>
            </a:r>
            <a:r>
              <a:rPr lang="fr-FR" sz="1400" dirty="0"/>
              <a:t> → </a:t>
            </a:r>
            <a:r>
              <a:rPr lang="fr-FR" sz="1400" b="1" dirty="0"/>
              <a:t>denses/gras</a:t>
            </a:r>
            <a:r>
              <a:rPr lang="fr-FR" sz="1400" dirty="0"/>
              <a:t> · </a:t>
            </a:r>
            <a:r>
              <a:rPr lang="fr-FR" sz="1400" b="1" dirty="0"/>
              <a:t>PC1 −</a:t>
            </a:r>
            <a:r>
              <a:rPr lang="fr-FR" sz="1400" dirty="0"/>
              <a:t> → peu énergétiques/peu gras</a:t>
            </a:r>
          </a:p>
          <a:p>
            <a:r>
              <a:rPr lang="fr-FR" sz="1400" b="1" dirty="0"/>
              <a:t>PC2 +</a:t>
            </a:r>
            <a:r>
              <a:rPr lang="fr-FR" sz="1400" dirty="0"/>
              <a:t> → </a:t>
            </a:r>
            <a:r>
              <a:rPr lang="fr-FR" sz="1400" b="1" dirty="0"/>
              <a:t>sucré/glucidique</a:t>
            </a:r>
            <a:r>
              <a:rPr lang="fr-FR" sz="1400" dirty="0"/>
              <a:t> · </a:t>
            </a:r>
            <a:r>
              <a:rPr lang="fr-FR" sz="1400" b="1" dirty="0"/>
              <a:t>PC2 −</a:t>
            </a:r>
            <a:r>
              <a:rPr lang="fr-FR" sz="1400" dirty="0"/>
              <a:t> → </a:t>
            </a:r>
            <a:r>
              <a:rPr lang="fr-FR" sz="1400" b="1" dirty="0"/>
              <a:t>salé/protéiné</a:t>
            </a:r>
            <a:endParaRPr lang="fr-FR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82613E-578A-50A9-37BD-81E177C23E6D}"/>
              </a:ext>
            </a:extLst>
          </p:cNvPr>
          <p:cNvSpPr/>
          <p:nvPr/>
        </p:nvSpPr>
        <p:spPr>
          <a:xfrm>
            <a:off x="42672" y="4892040"/>
            <a:ext cx="5020057" cy="187042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1"/>
                </a:solidFill>
              </a:rPr>
              <a:t>Messages clés</a:t>
            </a:r>
          </a:p>
          <a:p>
            <a:pPr algn="ctr"/>
            <a:endParaRPr lang="fr-FR" sz="1400" b="1" dirty="0"/>
          </a:p>
          <a:p>
            <a:r>
              <a:rPr lang="fr-FR" sz="1400" b="1" dirty="0"/>
              <a:t>- </a:t>
            </a:r>
            <a:r>
              <a:rPr lang="fr-FR" sz="1400" b="1" u="sng" dirty="0"/>
              <a:t>Bien séparés</a:t>
            </a:r>
            <a:r>
              <a:rPr lang="fr-FR" sz="1400" u="sng" dirty="0"/>
              <a:t> :</a:t>
            </a:r>
            <a:r>
              <a:rPr lang="fr-FR" sz="1400" dirty="0"/>
              <a:t> </a:t>
            </a:r>
            <a:r>
              <a:rPr lang="fr-FR" sz="1400" dirty="0" err="1"/>
              <a:t>Sugary</a:t>
            </a:r>
            <a:r>
              <a:rPr lang="fr-FR" sz="1400" dirty="0"/>
              <a:t> snacks, </a:t>
            </a:r>
            <a:r>
              <a:rPr lang="fr-FR" sz="1400" dirty="0" err="1"/>
              <a:t>Salty</a:t>
            </a:r>
            <a:r>
              <a:rPr lang="fr-FR" sz="1400" dirty="0"/>
              <a:t> snacks, Fat &amp; sauces, Fish </a:t>
            </a:r>
            <a:r>
              <a:rPr lang="fr-FR" sz="1400" dirty="0" err="1"/>
              <a:t>Meat</a:t>
            </a:r>
            <a:r>
              <a:rPr lang="fr-FR" sz="1400" dirty="0"/>
              <a:t> </a:t>
            </a:r>
            <a:r>
              <a:rPr lang="fr-FR" sz="1400" dirty="0" err="1"/>
              <a:t>Eggs</a:t>
            </a:r>
            <a:r>
              <a:rPr lang="fr-FR" sz="1400" dirty="0"/>
              <a:t>.</a:t>
            </a:r>
          </a:p>
          <a:p>
            <a:r>
              <a:rPr lang="fr-FR" sz="1400" b="1" dirty="0"/>
              <a:t>- </a:t>
            </a:r>
            <a:r>
              <a:rPr lang="fr-FR" sz="1400" b="1" u="sng" dirty="0"/>
              <a:t>Centrés / mixtes</a:t>
            </a:r>
            <a:r>
              <a:rPr lang="fr-FR" sz="1400" u="sng" dirty="0"/>
              <a:t> :</a:t>
            </a:r>
            <a:r>
              <a:rPr lang="fr-FR" sz="1400" dirty="0"/>
              <a:t> </a:t>
            </a:r>
            <a:r>
              <a:rPr lang="fr-FR" sz="1400" dirty="0">
                <a:solidFill>
                  <a:srgbClr val="2CA02C"/>
                </a:solidFill>
              </a:rPr>
              <a:t>Composite </a:t>
            </a:r>
            <a:r>
              <a:rPr lang="fr-FR" sz="1400" dirty="0" err="1">
                <a:solidFill>
                  <a:srgbClr val="2CA02C"/>
                </a:solidFill>
              </a:rPr>
              <a:t>foods</a:t>
            </a:r>
            <a:r>
              <a:rPr lang="fr-FR" sz="1400" dirty="0"/>
              <a:t>, </a:t>
            </a:r>
            <a:r>
              <a:rPr lang="fr-FR" sz="1400" dirty="0" err="1">
                <a:solidFill>
                  <a:srgbClr val="8C564B"/>
                </a:solidFill>
              </a:rPr>
              <a:t>Cereals</a:t>
            </a:r>
            <a:r>
              <a:rPr lang="fr-FR" sz="1400" dirty="0">
                <a:solidFill>
                  <a:srgbClr val="8C564B"/>
                </a:solidFill>
              </a:rPr>
              <a:t> &amp; </a:t>
            </a:r>
            <a:r>
              <a:rPr lang="fr-FR" sz="1400" dirty="0" err="1">
                <a:solidFill>
                  <a:srgbClr val="8C564B"/>
                </a:solidFill>
              </a:rPr>
              <a:t>potatoes</a:t>
            </a:r>
            <a:r>
              <a:rPr lang="fr-FR" sz="1400" dirty="0"/>
              <a:t> (profils moyens, chevauchements).</a:t>
            </a:r>
          </a:p>
          <a:p>
            <a:r>
              <a:rPr lang="fr-FR" sz="1400" b="1" dirty="0"/>
              <a:t>- </a:t>
            </a:r>
            <a:r>
              <a:rPr lang="fr-FR" sz="1400" b="1" u="sng" dirty="0"/>
              <a:t>Axes validés</a:t>
            </a:r>
            <a:r>
              <a:rPr lang="fr-FR" sz="1400" u="sng" dirty="0"/>
              <a:t> :</a:t>
            </a:r>
            <a:r>
              <a:rPr lang="fr-FR" sz="1400" dirty="0"/>
              <a:t> PC1 = densité/gras · PC2 = sucré vs salé/protéiné → utiles pour prédire &amp; expliquer.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EED94-26F8-8559-8588-3B1243216950}"/>
              </a:ext>
            </a:extLst>
          </p:cNvPr>
          <p:cNvSpPr/>
          <p:nvPr/>
        </p:nvSpPr>
        <p:spPr>
          <a:xfrm>
            <a:off x="42672" y="2578608"/>
            <a:ext cx="5020057" cy="224942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5F8EEB"/>
                </a:solidFill>
              </a:rPr>
              <a:t>Lecture par quadrants</a:t>
            </a:r>
          </a:p>
          <a:p>
            <a:pPr algn="ctr"/>
            <a:endParaRPr lang="fr-FR" sz="1400" b="1" dirty="0">
              <a:solidFill>
                <a:srgbClr val="5F8EEB"/>
              </a:solidFill>
            </a:endParaRPr>
          </a:p>
          <a:p>
            <a:r>
              <a:rPr lang="fr-FR" sz="1400" b="1" dirty="0"/>
              <a:t>- Droite / Haut (PC1+, PC2+)</a:t>
            </a:r>
            <a:r>
              <a:rPr lang="fr-FR" sz="1400" dirty="0"/>
              <a:t> : </a:t>
            </a:r>
            <a:r>
              <a:rPr lang="fr-FR" sz="1400" dirty="0" err="1">
                <a:solidFill>
                  <a:srgbClr val="BCBD22"/>
                </a:solidFill>
              </a:rPr>
              <a:t>Sugary</a:t>
            </a:r>
            <a:r>
              <a:rPr lang="fr-FR" sz="1400" dirty="0">
                <a:solidFill>
                  <a:srgbClr val="BCBD22"/>
                </a:solidFill>
              </a:rPr>
              <a:t> snacks </a:t>
            </a:r>
            <a:r>
              <a:rPr lang="fr-FR" sz="1400" dirty="0"/>
              <a:t>(très énergétiques &amp; sucrés).</a:t>
            </a:r>
          </a:p>
          <a:p>
            <a:r>
              <a:rPr lang="fr-FR" sz="1400" b="1" dirty="0"/>
              <a:t>- Droite / Bas (PC1+, PC2−)</a:t>
            </a:r>
            <a:r>
              <a:rPr lang="fr-FR" sz="1400" dirty="0"/>
              <a:t> : </a:t>
            </a:r>
            <a:r>
              <a:rPr lang="fr-FR" sz="1400" dirty="0" err="1">
                <a:solidFill>
                  <a:srgbClr val="7F7F7F"/>
                </a:solidFill>
              </a:rPr>
              <a:t>Salty</a:t>
            </a:r>
            <a:r>
              <a:rPr lang="fr-FR" sz="1400" dirty="0">
                <a:solidFill>
                  <a:srgbClr val="7F7F7F"/>
                </a:solidFill>
              </a:rPr>
              <a:t> snacks</a:t>
            </a:r>
            <a:r>
              <a:rPr lang="fr-FR" sz="1400" dirty="0"/>
              <a:t>, </a:t>
            </a:r>
            <a:r>
              <a:rPr lang="fr-FR" sz="1400" dirty="0">
                <a:solidFill>
                  <a:srgbClr val="E377C2"/>
                </a:solidFill>
              </a:rPr>
              <a:t>Fat &amp; sauces </a:t>
            </a:r>
            <a:r>
              <a:rPr lang="fr-FR" sz="1400" dirty="0"/>
              <a:t>(denses &amp; salés).</a:t>
            </a:r>
          </a:p>
          <a:p>
            <a:r>
              <a:rPr lang="fr-FR" sz="1400" b="1" dirty="0"/>
              <a:t>- Gauche / Bas (PC1−, PC2−)</a:t>
            </a:r>
            <a:r>
              <a:rPr lang="fr-FR" sz="1400" dirty="0"/>
              <a:t> : </a:t>
            </a:r>
            <a:r>
              <a:rPr lang="fr-FR" sz="1400" dirty="0">
                <a:solidFill>
                  <a:srgbClr val="D62728"/>
                </a:solidFill>
              </a:rPr>
              <a:t>Fish </a:t>
            </a:r>
            <a:r>
              <a:rPr lang="fr-FR" sz="1400" dirty="0" err="1">
                <a:solidFill>
                  <a:srgbClr val="D62728"/>
                </a:solidFill>
              </a:rPr>
              <a:t>Meat</a:t>
            </a:r>
            <a:r>
              <a:rPr lang="fr-FR" sz="1400" dirty="0">
                <a:solidFill>
                  <a:srgbClr val="D62728"/>
                </a:solidFill>
              </a:rPr>
              <a:t> </a:t>
            </a:r>
            <a:r>
              <a:rPr lang="fr-FR" sz="1400" dirty="0" err="1">
                <a:solidFill>
                  <a:srgbClr val="D62728"/>
                </a:solidFill>
              </a:rPr>
              <a:t>Eggs</a:t>
            </a:r>
            <a:r>
              <a:rPr lang="fr-FR" sz="1400" dirty="0"/>
              <a:t>, </a:t>
            </a:r>
            <a:r>
              <a:rPr lang="fr-FR" sz="1400" dirty="0">
                <a:solidFill>
                  <a:srgbClr val="9467BD"/>
                </a:solidFill>
              </a:rPr>
              <a:t>Milk &amp; </a:t>
            </a:r>
            <a:r>
              <a:rPr lang="fr-FR" sz="1400" dirty="0" err="1">
                <a:solidFill>
                  <a:srgbClr val="9467BD"/>
                </a:solidFill>
              </a:rPr>
              <a:t>dairy</a:t>
            </a:r>
            <a:r>
              <a:rPr lang="fr-FR" sz="1400" dirty="0">
                <a:solidFill>
                  <a:srgbClr val="9467BD"/>
                </a:solidFill>
              </a:rPr>
              <a:t> </a:t>
            </a:r>
            <a:r>
              <a:rPr lang="fr-FR" sz="1400" dirty="0"/>
              <a:t>(peu denses, plutôt salés/protéinés).</a:t>
            </a:r>
          </a:p>
          <a:p>
            <a:r>
              <a:rPr lang="fr-FR" sz="1400" b="1" dirty="0"/>
              <a:t>- Gauche / Haut (PC1−, PC2+)</a:t>
            </a:r>
            <a:r>
              <a:rPr lang="fr-FR" sz="1400" dirty="0"/>
              <a:t> : </a:t>
            </a:r>
            <a:r>
              <a:rPr lang="fr-FR" sz="1400" dirty="0" err="1">
                <a:solidFill>
                  <a:srgbClr val="1F77B4"/>
                </a:solidFill>
              </a:rPr>
              <a:t>Beverages</a:t>
            </a:r>
            <a:r>
              <a:rPr lang="fr-FR" sz="1400" dirty="0"/>
              <a:t>, </a:t>
            </a:r>
            <a:r>
              <a:rPr lang="fr-FR" sz="1400" dirty="0">
                <a:solidFill>
                  <a:srgbClr val="FF7F0E"/>
                </a:solidFill>
              </a:rPr>
              <a:t>Fruits &amp; </a:t>
            </a:r>
            <a:r>
              <a:rPr lang="fr-FR" sz="1400" dirty="0" err="1">
                <a:solidFill>
                  <a:srgbClr val="FF7F0E"/>
                </a:solidFill>
              </a:rPr>
              <a:t>vegetables</a:t>
            </a:r>
            <a:r>
              <a:rPr lang="fr-FR" sz="1400" dirty="0"/>
              <a:t> (faible densité, léger profil sucré).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Observations &amp; </a:t>
            </a:r>
            <a:r>
              <a:rPr dirty="0" err="1"/>
              <a:t>faisabilité</a:t>
            </a:r>
            <a:endParaRPr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054630E-AB12-57E3-DDE8-C3968F03EAE2}"/>
              </a:ext>
            </a:extLst>
          </p:cNvPr>
          <p:cNvSpPr txBox="1"/>
          <p:nvPr/>
        </p:nvSpPr>
        <p:spPr>
          <a:xfrm>
            <a:off x="752856" y="1849972"/>
            <a:ext cx="49377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rgbClr val="5F8EEB"/>
                </a:solidFill>
              </a:rPr>
              <a:t>Ce que montre l’ACP</a:t>
            </a:r>
          </a:p>
          <a:p>
            <a:pPr>
              <a:buNone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PC1</a:t>
            </a:r>
            <a:r>
              <a:rPr lang="fr-FR" dirty="0"/>
              <a:t> : niveau d’énergie et de graisses.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PC2</a:t>
            </a:r>
            <a:r>
              <a:rPr lang="fr-FR" dirty="0"/>
              <a:t> : </a:t>
            </a:r>
            <a:r>
              <a:rPr lang="fr-FR" b="1" dirty="0"/>
              <a:t>sucré/glucidique</a:t>
            </a:r>
            <a:r>
              <a:rPr lang="fr-FR" dirty="0"/>
              <a:t> vs </a:t>
            </a:r>
            <a:r>
              <a:rPr lang="fr-FR" b="1" dirty="0"/>
              <a:t>salé/protéiné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PC3</a:t>
            </a:r>
            <a:r>
              <a:rPr lang="fr-FR" dirty="0"/>
              <a:t> : </a:t>
            </a:r>
            <a:r>
              <a:rPr lang="fr-FR" b="1" dirty="0"/>
              <a:t>degré de transformation</a:t>
            </a:r>
            <a:r>
              <a:rPr lang="fr-FR" dirty="0"/>
              <a:t> (additifs, palme, sel).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highlight>
                  <a:srgbClr val="1F77B4"/>
                </a:highlight>
              </a:rPr>
              <a:t>Les </a:t>
            </a:r>
            <a:r>
              <a:rPr lang="fr-FR" b="1" dirty="0">
                <a:highlight>
                  <a:srgbClr val="1F77B4"/>
                </a:highlight>
              </a:rPr>
              <a:t>centroïdes PNNS</a:t>
            </a:r>
            <a:r>
              <a:rPr lang="fr-FR" dirty="0">
                <a:highlight>
                  <a:srgbClr val="1F77B4"/>
                </a:highlight>
              </a:rPr>
              <a:t> sont bien séparés</a:t>
            </a:r>
            <a:r>
              <a:rPr lang="fr-FR" dirty="0"/>
              <a:t> : certaines familles ont des profils clairs (snacks sucrés, snacks salés, poissons/viandes/œufs).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highlight>
                  <a:srgbClr val="1F77B4"/>
                </a:highlight>
              </a:rPr>
              <a:t>Les </a:t>
            </a:r>
            <a:r>
              <a:rPr lang="fr-FR" b="1" dirty="0">
                <a:highlight>
                  <a:srgbClr val="1F77B4"/>
                </a:highlight>
              </a:rPr>
              <a:t>cercles de corrélation</a:t>
            </a:r>
            <a:r>
              <a:rPr lang="fr-FR" dirty="0">
                <a:highlight>
                  <a:srgbClr val="1F77B4"/>
                </a:highlight>
              </a:rPr>
              <a:t> confirment des blocs logiques</a:t>
            </a:r>
            <a:r>
              <a:rPr lang="fr-FR" dirty="0"/>
              <a:t> (énergie–lipides, sucres–glucides) et des oppositions utiles à la prédiction.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6DCF19-E4EF-BF63-4424-64EA0CA00F9F}"/>
              </a:ext>
            </a:extLst>
          </p:cNvPr>
          <p:cNvSpPr txBox="1"/>
          <p:nvPr/>
        </p:nvSpPr>
        <p:spPr>
          <a:xfrm>
            <a:off x="6501384" y="1845624"/>
            <a:ext cx="49377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rgbClr val="82BFAA"/>
                </a:solidFill>
              </a:rPr>
              <a:t>Impact pour l’</a:t>
            </a:r>
            <a:r>
              <a:rPr lang="fr-FR" b="1" dirty="0" err="1">
                <a:solidFill>
                  <a:srgbClr val="82BFAA"/>
                </a:solidFill>
              </a:rPr>
              <a:t>auto-complétion</a:t>
            </a:r>
            <a:r>
              <a:rPr lang="fr-FR" b="1" dirty="0">
                <a:solidFill>
                  <a:srgbClr val="82BFAA"/>
                </a:solidFill>
              </a:rPr>
              <a:t> et faisabilité</a:t>
            </a:r>
          </a:p>
          <a:p>
            <a:pPr>
              <a:buNone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highlight>
                  <a:srgbClr val="82BFAA"/>
                </a:highlight>
              </a:rPr>
              <a:t>Avec </a:t>
            </a:r>
            <a:r>
              <a:rPr lang="fr-FR" b="1" dirty="0">
                <a:highlight>
                  <a:srgbClr val="82BFAA"/>
                </a:highlight>
              </a:rPr>
              <a:t>quelques champs</a:t>
            </a:r>
            <a:r>
              <a:rPr lang="fr-FR" dirty="0"/>
              <a:t> (énergie, lipides, sucres), on </a:t>
            </a:r>
            <a:r>
              <a:rPr lang="fr-FR" b="1" dirty="0"/>
              <a:t>situe</a:t>
            </a:r>
            <a:r>
              <a:rPr lang="fr-FR" dirty="0"/>
              <a:t> déjà le produit et on peut </a:t>
            </a:r>
            <a:r>
              <a:rPr lang="fr-FR" b="1" dirty="0"/>
              <a:t>suggérer</a:t>
            </a:r>
            <a:r>
              <a:rPr lang="fr-FR" dirty="0"/>
              <a:t> les valeurs manquantes.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</a:t>
            </a:r>
            <a:r>
              <a:rPr lang="fr-FR" b="1" dirty="0">
                <a:highlight>
                  <a:srgbClr val="82BFAA"/>
                </a:highlight>
              </a:rPr>
              <a:t>règles métier</a:t>
            </a:r>
            <a:r>
              <a:rPr lang="fr-FR" dirty="0"/>
              <a:t> (ex. sel ≈ 0,4 × sodium) sécurisent les propositions quand plusieurs champs manquent.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Faisable</a:t>
            </a:r>
            <a:r>
              <a:rPr lang="fr-FR" dirty="0"/>
              <a:t> : imputation </a:t>
            </a:r>
            <a:r>
              <a:rPr lang="fr-FR" b="1" dirty="0"/>
              <a:t>KNN</a:t>
            </a:r>
            <a:r>
              <a:rPr lang="fr-FR" dirty="0"/>
              <a:t> ou </a:t>
            </a:r>
            <a:r>
              <a:rPr lang="fr-FR" b="1" dirty="0"/>
              <a:t>médiane par groupe</a:t>
            </a:r>
            <a:r>
              <a:rPr lang="fr-FR" dirty="0"/>
              <a:t>, complétée par une </a:t>
            </a:r>
            <a:r>
              <a:rPr lang="fr-FR" b="1" dirty="0"/>
              <a:t>PCA</a:t>
            </a:r>
            <a:r>
              <a:rPr lang="fr-FR" dirty="0"/>
              <a:t> pour la cohérence globale.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Vigilance</a:t>
            </a:r>
            <a:r>
              <a:rPr lang="fr-FR" dirty="0"/>
              <a:t> : </a:t>
            </a:r>
            <a:r>
              <a:rPr lang="fr-FR" dirty="0">
                <a:highlight>
                  <a:srgbClr val="82BFAA"/>
                </a:highlight>
              </a:rPr>
              <a:t>certaines catégories </a:t>
            </a:r>
            <a:r>
              <a:rPr lang="fr-FR" b="1" dirty="0">
                <a:highlight>
                  <a:srgbClr val="82BFAA"/>
                </a:highlight>
              </a:rPr>
              <a:t>hétérogènes</a:t>
            </a:r>
            <a:r>
              <a:rPr lang="fr-FR" dirty="0">
                <a:highlight>
                  <a:srgbClr val="82BFAA"/>
                </a:highlight>
              </a:rPr>
              <a:t> </a:t>
            </a:r>
            <a:r>
              <a:rPr lang="fr-FR" dirty="0"/>
              <a:t>→ afficher une </a:t>
            </a:r>
            <a:r>
              <a:rPr lang="fr-FR" b="1" dirty="0"/>
              <a:t>incertitude</a:t>
            </a:r>
            <a:r>
              <a:rPr lang="fr-FR" dirty="0"/>
              <a:t> ; pipeline </a:t>
            </a:r>
            <a:r>
              <a:rPr lang="fr-FR" b="1" dirty="0"/>
              <a:t>robuste</a:t>
            </a:r>
            <a:r>
              <a:rPr lang="fr-FR" dirty="0"/>
              <a:t> aux nouveaux produits.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0EBE5-BF36-979C-1CCE-ED0DF27F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33" y="398559"/>
            <a:ext cx="10386906" cy="707136"/>
          </a:xfrm>
        </p:spPr>
        <p:txBody>
          <a:bodyPr/>
          <a:lstStyle/>
          <a:p>
            <a:r>
              <a:rPr lang="fr-FR" dirty="0"/>
              <a:t>RGPD — Principes clés &amp; conformité du projet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7125268-FEE7-D070-A1FA-2507CD472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590965"/>
              </p:ext>
            </p:extLst>
          </p:nvPr>
        </p:nvGraphicFramePr>
        <p:xfrm>
          <a:off x="440804" y="1027212"/>
          <a:ext cx="11311263" cy="420998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770421">
                  <a:extLst>
                    <a:ext uri="{9D8B030D-6E8A-4147-A177-3AD203B41FA5}">
                      <a16:colId xmlns:a16="http://schemas.microsoft.com/office/drawing/2014/main" val="822029848"/>
                    </a:ext>
                  </a:extLst>
                </a:gridCol>
                <a:gridCol w="3770421">
                  <a:extLst>
                    <a:ext uri="{9D8B030D-6E8A-4147-A177-3AD203B41FA5}">
                      <a16:colId xmlns:a16="http://schemas.microsoft.com/office/drawing/2014/main" val="1539913184"/>
                    </a:ext>
                  </a:extLst>
                </a:gridCol>
                <a:gridCol w="3770421">
                  <a:extLst>
                    <a:ext uri="{9D8B030D-6E8A-4147-A177-3AD203B41FA5}">
                      <a16:colId xmlns:a16="http://schemas.microsoft.com/office/drawing/2014/main" val="23066818"/>
                    </a:ext>
                  </a:extLst>
                </a:gridCol>
              </a:tblGrid>
              <a:tr h="86029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dirty="0">
                          <a:solidFill>
                            <a:schemeClr val="tx1"/>
                          </a:solidFill>
                          <a:highlight>
                            <a:srgbClr val="9467BD"/>
                          </a:highlight>
                        </a:rPr>
                        <a:t>Finalité &amp; transparence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dirty="0">
                          <a:solidFill>
                            <a:schemeClr val="tx1"/>
                          </a:solidFill>
                          <a:highlight>
                            <a:srgbClr val="1F77B4"/>
                          </a:highlight>
                        </a:rPr>
                        <a:t>Minimisation des données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dirty="0">
                          <a:solidFill>
                            <a:schemeClr val="tx1"/>
                          </a:solidFill>
                          <a:highlight>
                            <a:srgbClr val="82BFAA"/>
                          </a:highlight>
                        </a:rPr>
                        <a:t>Sécurité &amp; droits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2393957"/>
                  </a:ext>
                </a:extLst>
              </a:tr>
              <a:tr h="2757648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Traiter les données pour une </a:t>
                      </a:r>
                      <a:r>
                        <a:rPr lang="fr-FR" sz="1200" b="1" dirty="0">
                          <a:solidFill>
                            <a:schemeClr val="accent1"/>
                          </a:solidFill>
                        </a:rPr>
                        <a:t>finalité déterminée, explicite, légitime</a:t>
                      </a:r>
                      <a:br>
                        <a:rPr lang="fr-FR" sz="1200" dirty="0">
                          <a:solidFill>
                            <a:schemeClr val="accent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améliorer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complétude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qualité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de saisie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</a:rPr>
                        <a:t>Informer</a:t>
                      </a:r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 sur qui collecte, pourquoi, comment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données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OFF publiques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, doc. claire du pipeline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</a:rPr>
                        <a:t>Pas de réutilisation</a:t>
                      </a:r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 incompatible avec le projet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pas d’usage marketing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/ profilage utilisateur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lumOff val="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5F8EEB"/>
                          </a:solidFill>
                        </a:rPr>
                        <a:t>Collecter </a:t>
                      </a:r>
                      <a:r>
                        <a:rPr lang="fr-FR" sz="1200" b="1" dirty="0">
                          <a:solidFill>
                            <a:srgbClr val="5F8EEB"/>
                          </a:solidFill>
                        </a:rPr>
                        <a:t>uniquement le nécessaire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uniquement des données de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 produits, 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pas de donnée à caractère personnel (DCP)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5F8EEB"/>
                          </a:solidFill>
                        </a:rPr>
                        <a:t>Données exactes</a:t>
                      </a:r>
                      <a:r>
                        <a:rPr lang="fr-FR" sz="1200" dirty="0">
                          <a:solidFill>
                            <a:srgbClr val="5F8EEB"/>
                          </a:solidFill>
                        </a:rPr>
                        <a:t> et </a:t>
                      </a:r>
                      <a:r>
                        <a:rPr lang="fr-FR" sz="1200" b="1" dirty="0">
                          <a:solidFill>
                            <a:srgbClr val="5F8EEB"/>
                          </a:solidFill>
                        </a:rPr>
                        <a:t>mises à jour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contrôles métier (</a:t>
                      </a:r>
                      <a:r>
                        <a:rPr lang="fr-FR" sz="1200" dirty="0" err="1">
                          <a:solidFill>
                            <a:schemeClr val="tx1"/>
                          </a:solidFill>
                        </a:rPr>
                        <a:t>sel↔sodium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), règles de cohérence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5F8EEB"/>
                          </a:solidFill>
                        </a:rPr>
                        <a:t>Conservation limitée</a:t>
                      </a:r>
                      <a:r>
                        <a:rPr lang="fr-FR" sz="1200" dirty="0">
                          <a:solidFill>
                            <a:srgbClr val="5F8EEB"/>
                          </a:solidFill>
                        </a:rPr>
                        <a:t> au besoin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fr-FR" sz="1200" dirty="0"/>
                        <a:t>versionnage daté des jeux et traitements.</a:t>
                      </a: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lumOff val="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82BFAA"/>
                          </a:solidFill>
                        </a:rPr>
                        <a:t>Intégrité, confidentialité, disponibilité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pipeline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reproductible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, tests d’anomalies auto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>
                          <a:solidFill>
                            <a:srgbClr val="82BFAA"/>
                          </a:solidFill>
                        </a:rPr>
                        <a:t>Traçabilité</a:t>
                      </a:r>
                      <a:r>
                        <a:rPr lang="fr-FR" sz="1200" dirty="0">
                          <a:solidFill>
                            <a:srgbClr val="82BFAA"/>
                          </a:solidFill>
                        </a:rPr>
                        <a:t> des traitements / incidents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fr-FR" sz="1200" dirty="0"/>
                        <a:t>versions &amp; journal des transformations (avec suivi des incidents)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fr-FR" sz="1200" dirty="0"/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200" b="1" dirty="0" err="1">
                          <a:solidFill>
                            <a:srgbClr val="82BFAA"/>
                          </a:solidFill>
                        </a:rPr>
                        <a:t>Accountability</a:t>
                      </a:r>
                      <a:r>
                        <a:rPr lang="fr-FR" sz="1200" dirty="0">
                          <a:solidFill>
                            <a:srgbClr val="82BFAA"/>
                          </a:solidFill>
                        </a:rPr>
                        <a:t> (preuve de conformité)</a:t>
                      </a:r>
                      <a:br>
                        <a:rPr lang="fr-FR" sz="12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→ 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Projet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: documentation des règles d’imputation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lumOff val="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805468"/>
                  </a:ext>
                </a:extLst>
              </a:tr>
            </a:tbl>
          </a:graphicData>
        </a:graphic>
      </p:graphicFrame>
      <p:sp>
        <p:nvSpPr>
          <p:cNvPr id="5" name="Organigramme : Alternative 4">
            <a:extLst>
              <a:ext uri="{FF2B5EF4-FFF2-40B4-BE49-F238E27FC236}">
                <a16:creationId xmlns:a16="http://schemas.microsoft.com/office/drawing/2014/main" id="{89FB5EF1-A149-EAB2-A28F-75869E624EE2}"/>
              </a:ext>
            </a:extLst>
          </p:cNvPr>
          <p:cNvSpPr/>
          <p:nvPr/>
        </p:nvSpPr>
        <p:spPr>
          <a:xfrm>
            <a:off x="439933" y="5349240"/>
            <a:ext cx="11312134" cy="1316736"/>
          </a:xfrm>
          <a:prstGeom prst="flowChartAlternate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highlight>
                  <a:srgbClr val="9467BD"/>
                </a:highlight>
              </a:rPr>
              <a:t>Conformité du projet (RGPD)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Pas de données personnelles</a:t>
            </a:r>
            <a:r>
              <a:rPr lang="fr-FR" sz="1200" dirty="0">
                <a:solidFill>
                  <a:schemeClr val="tx1"/>
                </a:solidFill>
              </a:rPr>
              <a:t> : uniquement des informations produit (nutriments, tags).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Finalité claire</a:t>
            </a:r>
            <a:r>
              <a:rPr lang="fr-FR" sz="1200" dirty="0">
                <a:solidFill>
                  <a:schemeClr val="tx1"/>
                </a:solidFill>
              </a:rPr>
              <a:t> : aider à </a:t>
            </a:r>
            <a:r>
              <a:rPr lang="fr-FR" sz="1200" b="1" dirty="0">
                <a:solidFill>
                  <a:schemeClr val="tx1"/>
                </a:solidFill>
              </a:rPr>
              <a:t>remplir</a:t>
            </a:r>
            <a:r>
              <a:rPr lang="fr-FR" sz="1200" dirty="0">
                <a:solidFill>
                  <a:schemeClr val="tx1"/>
                </a:solidFill>
              </a:rPr>
              <a:t> les fiches plus vite et </a:t>
            </a:r>
            <a:r>
              <a:rPr lang="fr-FR" sz="1200" b="1" dirty="0">
                <a:solidFill>
                  <a:schemeClr val="tx1"/>
                </a:solidFill>
              </a:rPr>
              <a:t>mieux</a:t>
            </a:r>
            <a:r>
              <a:rPr lang="fr-FR" sz="12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Principe de minimisation</a:t>
            </a:r>
            <a:r>
              <a:rPr lang="fr-FR" sz="1200" dirty="0">
                <a:solidFill>
                  <a:schemeClr val="tx1"/>
                </a:solidFill>
              </a:rPr>
              <a:t> : on n’utilise </a:t>
            </a:r>
            <a:r>
              <a:rPr lang="fr-FR" sz="1200" b="1" dirty="0">
                <a:solidFill>
                  <a:schemeClr val="tx1"/>
                </a:solidFill>
              </a:rPr>
              <a:t>que</a:t>
            </a:r>
            <a:r>
              <a:rPr lang="fr-FR" sz="1200" dirty="0">
                <a:solidFill>
                  <a:schemeClr val="tx1"/>
                </a:solidFill>
              </a:rPr>
              <a:t> les champs nécessaires.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Sécurité &amp; traçabilité</a:t>
            </a:r>
            <a:r>
              <a:rPr lang="fr-FR" sz="1200" dirty="0">
                <a:solidFill>
                  <a:schemeClr val="tx1"/>
                </a:solidFill>
              </a:rPr>
              <a:t> : pipeline </a:t>
            </a:r>
            <a:r>
              <a:rPr lang="fr-FR" sz="1200" b="1" dirty="0">
                <a:solidFill>
                  <a:schemeClr val="tx1"/>
                </a:solidFill>
              </a:rPr>
              <a:t>documenté</a:t>
            </a:r>
            <a:r>
              <a:rPr lang="fr-FR" sz="1200" dirty="0">
                <a:solidFill>
                  <a:schemeClr val="tx1"/>
                </a:solidFill>
              </a:rPr>
              <a:t>, </a:t>
            </a:r>
            <a:r>
              <a:rPr lang="fr-FR" sz="1200" b="1" dirty="0">
                <a:solidFill>
                  <a:schemeClr val="tx1"/>
                </a:solidFill>
              </a:rPr>
              <a:t>reproductible</a:t>
            </a:r>
            <a:r>
              <a:rPr lang="fr-FR" sz="1200" dirty="0">
                <a:solidFill>
                  <a:schemeClr val="tx1"/>
                </a:solidFill>
              </a:rPr>
              <a:t>, contrôles </a:t>
            </a:r>
            <a:r>
              <a:rPr lang="fr-FR" sz="1200" b="1" dirty="0">
                <a:solidFill>
                  <a:schemeClr val="tx1"/>
                </a:solidFill>
              </a:rPr>
              <a:t>automatiques</a:t>
            </a:r>
            <a:r>
              <a:rPr lang="fr-FR" sz="1200" dirty="0">
                <a:solidFill>
                  <a:schemeClr val="tx1"/>
                </a:solidFill>
              </a:rPr>
              <a:t> (cohérences, anomalies).</a:t>
            </a:r>
          </a:p>
        </p:txBody>
      </p:sp>
    </p:spTree>
    <p:extLst>
      <p:ext uri="{BB962C8B-B14F-4D97-AF65-F5344CB8AC3E}">
        <p14:creationId xmlns:p14="http://schemas.microsoft.com/office/powerpoint/2010/main" val="1002996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936" y="344424"/>
            <a:ext cx="8596668" cy="688848"/>
          </a:xfrm>
        </p:spPr>
        <p:txBody>
          <a:bodyPr/>
          <a:lstStyle/>
          <a:p>
            <a:r>
              <a:rPr lang="fr-FR" noProof="0" dirty="0"/>
              <a:t>Conclusion &amp; prochaines étapes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2CA7E-B19C-A0FA-8567-85BE681E78A0}"/>
              </a:ext>
            </a:extLst>
          </p:cNvPr>
          <p:cNvSpPr/>
          <p:nvPr/>
        </p:nvSpPr>
        <p:spPr>
          <a:xfrm>
            <a:off x="1011936" y="1280160"/>
            <a:ext cx="10168128" cy="196596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b="1" dirty="0"/>
              <a:t>Conclusion</a:t>
            </a:r>
          </a:p>
          <a:p>
            <a:endParaRPr lang="fr-F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Des </a:t>
            </a:r>
            <a:r>
              <a:rPr lang="fr-FR" sz="1400" b="1" dirty="0">
                <a:solidFill>
                  <a:schemeClr val="tx1"/>
                </a:solidFill>
                <a:highlight>
                  <a:srgbClr val="9467BD"/>
                </a:highlight>
              </a:rPr>
              <a:t>schémas stables et interprétables</a:t>
            </a:r>
            <a:r>
              <a:rPr lang="fr-FR" sz="1400" dirty="0">
                <a:solidFill>
                  <a:schemeClr val="tx1"/>
                </a:solidFill>
              </a:rPr>
              <a:t> relient nutriments et familles </a:t>
            </a:r>
            <a:r>
              <a:rPr lang="fr-FR" sz="1400" b="1" dirty="0">
                <a:solidFill>
                  <a:schemeClr val="tx1"/>
                </a:solidFill>
              </a:rPr>
              <a:t>PNNS</a:t>
            </a:r>
            <a:r>
              <a:rPr lang="fr-FR" sz="14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Base solide pour un </a:t>
            </a:r>
            <a:r>
              <a:rPr lang="fr-FR" sz="1400" b="1" dirty="0">
                <a:solidFill>
                  <a:schemeClr val="tx1"/>
                </a:solidFill>
              </a:rPr>
              <a:t>module de suggestion / </a:t>
            </a:r>
            <a:r>
              <a:rPr lang="fr-FR" sz="1400" b="1" dirty="0" err="1">
                <a:solidFill>
                  <a:schemeClr val="tx1"/>
                </a:solidFill>
              </a:rPr>
              <a:t>auto-complétion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  <a:r>
              <a:rPr lang="fr-FR" sz="1400" b="1" dirty="0">
                <a:solidFill>
                  <a:schemeClr val="tx1"/>
                </a:solidFill>
                <a:highlight>
                  <a:srgbClr val="9467BD"/>
                </a:highlight>
              </a:rPr>
              <a:t>simple, explicable et fiable</a:t>
            </a:r>
            <a:r>
              <a:rPr lang="fr-FR" sz="1400" dirty="0">
                <a:solidFill>
                  <a:schemeClr val="tx1"/>
                </a:solidFill>
                <a:highlight>
                  <a:srgbClr val="9467BD"/>
                </a:highlight>
              </a:rPr>
              <a:t> </a:t>
            </a:r>
            <a:r>
              <a:rPr lang="fr-FR" sz="1400" dirty="0">
                <a:solidFill>
                  <a:schemeClr val="tx1"/>
                </a:solidFill>
              </a:rPr>
              <a:t>dans Open Food </a:t>
            </a:r>
            <a:r>
              <a:rPr lang="fr-FR" sz="1400" dirty="0" err="1">
                <a:solidFill>
                  <a:schemeClr val="tx1"/>
                </a:solidFill>
              </a:rPr>
              <a:t>Facts</a:t>
            </a:r>
            <a:r>
              <a:rPr lang="fr-FR" sz="14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Mise en œuvre facilitée par un </a:t>
            </a:r>
            <a:r>
              <a:rPr lang="fr-FR" sz="1400" b="1" dirty="0">
                <a:solidFill>
                  <a:schemeClr val="tx1"/>
                </a:solidFill>
                <a:highlight>
                  <a:srgbClr val="9467BD"/>
                </a:highlight>
              </a:rPr>
              <a:t>pipeline automatisé</a:t>
            </a:r>
            <a:r>
              <a:rPr lang="fr-FR" sz="1400" dirty="0">
                <a:solidFill>
                  <a:schemeClr val="tx1"/>
                </a:solidFill>
                <a:highlight>
                  <a:srgbClr val="9467BD"/>
                </a:highlight>
              </a:rPr>
              <a:t> </a:t>
            </a:r>
            <a:r>
              <a:rPr lang="fr-FR" sz="1400" dirty="0">
                <a:solidFill>
                  <a:schemeClr val="tx1"/>
                </a:solidFill>
              </a:rPr>
              <a:t>(contrôles métier, imputation par groupes, PCA) </a:t>
            </a:r>
            <a:r>
              <a:rPr lang="fr-FR" sz="1400" b="1" dirty="0">
                <a:solidFill>
                  <a:schemeClr val="tx1"/>
                </a:solidFill>
              </a:rPr>
              <a:t>robuste aux nouveaux produits</a:t>
            </a:r>
            <a:r>
              <a:rPr lang="fr-FR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821B6-F7EC-C58E-F6A9-FA79880F0C89}"/>
              </a:ext>
            </a:extLst>
          </p:cNvPr>
          <p:cNvSpPr/>
          <p:nvPr/>
        </p:nvSpPr>
        <p:spPr>
          <a:xfrm>
            <a:off x="1011936" y="3429000"/>
            <a:ext cx="4995672" cy="2825496"/>
          </a:xfrm>
          <a:prstGeom prst="rect">
            <a:avLst/>
          </a:prstGeom>
          <a:noFill/>
          <a:ln w="38100" cap="flat" cmpd="sng" algn="ctr">
            <a:solidFill>
              <a:srgbClr val="84C6A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800" b="1"/>
            </a:pPr>
            <a:r>
              <a:rPr lang="fr-FR" dirty="0">
                <a:solidFill>
                  <a:srgbClr val="84C6AD"/>
                </a:solidFill>
              </a:rPr>
              <a:t>Prochaines étapes</a:t>
            </a:r>
          </a:p>
          <a:p>
            <a:pPr algn="ctr">
              <a:lnSpc>
                <a:spcPct val="150000"/>
              </a:lnSpc>
              <a:defRPr sz="1800" b="1"/>
            </a:pPr>
            <a:endParaRPr lang="fr-FR" sz="1400" dirty="0">
              <a:solidFill>
                <a:srgbClr val="84C6AD"/>
              </a:solidFill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b="1" dirty="0">
                <a:solidFill>
                  <a:schemeClr val="tx1"/>
                </a:solidFill>
                <a:highlight>
                  <a:srgbClr val="82BFAA"/>
                </a:highlight>
              </a:rPr>
              <a:t>Industrialiser</a:t>
            </a:r>
            <a:r>
              <a:rPr lang="fr-FR" altLang="fr-FR" sz="1400" dirty="0">
                <a:solidFill>
                  <a:schemeClr val="tx1"/>
                </a:solidFill>
              </a:rPr>
              <a:t> le pipeline avec monitoring qualité.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b="1" dirty="0">
                <a:solidFill>
                  <a:schemeClr val="tx1"/>
                </a:solidFill>
                <a:highlight>
                  <a:srgbClr val="82BFAA"/>
                </a:highlight>
              </a:rPr>
              <a:t>Prototyper</a:t>
            </a:r>
            <a:r>
              <a:rPr lang="fr-FR" altLang="fr-FR" sz="1400" dirty="0">
                <a:solidFill>
                  <a:schemeClr val="tx1"/>
                </a:solidFill>
              </a:rPr>
              <a:t> le module de suggestion : quelques champs en entrée → </a:t>
            </a:r>
            <a:r>
              <a:rPr lang="fr-FR" altLang="fr-FR" sz="1400" b="1" dirty="0">
                <a:solidFill>
                  <a:schemeClr val="tx1"/>
                </a:solidFill>
              </a:rPr>
              <a:t>valeurs proposées + incertitude</a:t>
            </a:r>
            <a:r>
              <a:rPr lang="fr-FR" altLang="fr-FR" sz="1400" dirty="0">
                <a:solidFill>
                  <a:schemeClr val="tx1"/>
                </a:solidFill>
              </a:rPr>
              <a:t>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b="1" dirty="0">
                <a:solidFill>
                  <a:schemeClr val="tx1"/>
                </a:solidFill>
                <a:highlight>
                  <a:srgbClr val="82BFAA"/>
                </a:highlight>
              </a:rPr>
              <a:t>Tester</a:t>
            </a:r>
            <a:r>
              <a:rPr lang="fr-FR" altLang="fr-FR" sz="1400" b="1" dirty="0">
                <a:solidFill>
                  <a:schemeClr val="tx1"/>
                </a:solidFill>
              </a:rPr>
              <a:t> avec des usagers</a:t>
            </a:r>
            <a:r>
              <a:rPr lang="fr-FR" altLang="fr-FR" sz="1400" dirty="0">
                <a:solidFill>
                  <a:schemeClr val="tx1"/>
                </a:solidFill>
              </a:rPr>
              <a:t> : pertinence des suggestions &amp; </a:t>
            </a:r>
            <a:r>
              <a:rPr lang="fr-FR" altLang="fr-FR" sz="1400" b="1" dirty="0">
                <a:solidFill>
                  <a:schemeClr val="tx1"/>
                </a:solidFill>
              </a:rPr>
              <a:t>gain de temps</a:t>
            </a:r>
            <a:r>
              <a:rPr lang="fr-FR" altLang="fr-FR" sz="1400" dirty="0">
                <a:solidFill>
                  <a:schemeClr val="tx1"/>
                </a:solidFill>
              </a:rPr>
              <a:t> en saisie.</a:t>
            </a:r>
            <a:endParaRPr lang="fr-FR" sz="1400" dirty="0">
              <a:solidFill>
                <a:srgbClr val="84C6AD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484350-4851-6C18-6660-CB642E7FE2D2}"/>
              </a:ext>
            </a:extLst>
          </p:cNvPr>
          <p:cNvSpPr/>
          <p:nvPr/>
        </p:nvSpPr>
        <p:spPr>
          <a:xfrm>
            <a:off x="6184392" y="3429000"/>
            <a:ext cx="4995672" cy="2819400"/>
          </a:xfrm>
          <a:prstGeom prst="rect">
            <a:avLst/>
          </a:prstGeom>
          <a:noFill/>
          <a:ln w="38100" cap="flat" cmpd="sng" algn="ctr">
            <a:solidFill>
              <a:srgbClr val="5F8EEB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800" b="1"/>
            </a:pPr>
            <a:r>
              <a:rPr lang="fr-FR" dirty="0">
                <a:solidFill>
                  <a:srgbClr val="5F8EEB"/>
                </a:solidFill>
              </a:rPr>
              <a:t>Gardes fous et conformité</a:t>
            </a:r>
          </a:p>
          <a:p>
            <a:pPr algn="ctr">
              <a:lnSpc>
                <a:spcPct val="150000"/>
              </a:lnSpc>
              <a:defRPr sz="1800" b="1"/>
            </a:pPr>
            <a:endParaRPr lang="fr-FR" sz="1400" dirty="0">
              <a:solidFill>
                <a:srgbClr val="5F8EEB"/>
              </a:solidFill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b="1" dirty="0">
                <a:solidFill>
                  <a:schemeClr val="tx1"/>
                </a:solidFill>
                <a:highlight>
                  <a:srgbClr val="1F77B4"/>
                </a:highlight>
                <a:latin typeface="Arial" panose="020B0604020202020204" pitchFamily="34" charset="0"/>
              </a:rPr>
              <a:t>Bornes &amp; règles métier</a:t>
            </a:r>
            <a:r>
              <a:rPr lang="fr-FR" altLang="fr-FR" sz="1400" dirty="0">
                <a:solidFill>
                  <a:schemeClr val="tx1"/>
                </a:solidFill>
                <a:highlight>
                  <a:srgbClr val="1F77B4"/>
                </a:highlight>
                <a:latin typeface="Arial" panose="020B0604020202020204" pitchFamily="34" charset="0"/>
              </a:rPr>
              <a:t> :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 bloquer toute suggestion incohérente (ex. sel ↔ sodium, macros ≤ 100 g).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b="1" dirty="0">
                <a:solidFill>
                  <a:schemeClr val="tx1"/>
                </a:solidFill>
                <a:highlight>
                  <a:srgbClr val="1F77B4"/>
                </a:highlight>
                <a:latin typeface="Arial" panose="020B0604020202020204" pitchFamily="34" charset="0"/>
              </a:rPr>
              <a:t>Suivi qualité</a:t>
            </a:r>
            <a:r>
              <a:rPr lang="fr-FR" altLang="fr-FR" sz="1400" dirty="0">
                <a:solidFill>
                  <a:schemeClr val="tx1"/>
                </a:solidFill>
                <a:highlight>
                  <a:srgbClr val="1F77B4"/>
                </a:highlight>
                <a:latin typeface="Arial" panose="020B0604020202020204" pitchFamily="34" charset="0"/>
              </a:rPr>
              <a:t> :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 contrôles automatiques + </a:t>
            </a:r>
            <a:r>
              <a:rPr lang="fr-FR" altLang="fr-FR" sz="1400" b="1" dirty="0">
                <a:solidFill>
                  <a:schemeClr val="tx1"/>
                </a:solidFill>
                <a:latin typeface="Arial" panose="020B0604020202020204" pitchFamily="34" charset="0"/>
              </a:rPr>
              <a:t>détection de dérive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 sur les nouvelles données.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1400" b="1" dirty="0">
                <a:solidFill>
                  <a:schemeClr val="tx1"/>
                </a:solidFill>
                <a:highlight>
                  <a:srgbClr val="1F77B4"/>
                </a:highlight>
                <a:latin typeface="Arial" panose="020B0604020202020204" pitchFamily="34" charset="0"/>
              </a:rPr>
              <a:t>Transparence RGPD</a:t>
            </a:r>
            <a:r>
              <a:rPr lang="fr-FR" altLang="fr-FR" sz="1400" dirty="0">
                <a:solidFill>
                  <a:schemeClr val="tx1"/>
                </a:solidFill>
                <a:highlight>
                  <a:srgbClr val="1F77B4"/>
                </a:highlight>
                <a:latin typeface="Arial" panose="020B0604020202020204" pitchFamily="34" charset="0"/>
              </a:rPr>
              <a:t> :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altLang="fr-FR" sz="1400" b="1" dirty="0">
                <a:solidFill>
                  <a:schemeClr val="tx1"/>
                </a:solidFill>
                <a:latin typeface="Arial" panose="020B0604020202020204" pitchFamily="34" charset="0"/>
              </a:rPr>
              <a:t>aucune donnée personnelle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, règles et choix d’imputation </a:t>
            </a:r>
            <a:r>
              <a:rPr lang="fr-FR" altLang="fr-FR" sz="1400" b="1" dirty="0">
                <a:solidFill>
                  <a:schemeClr val="tx1"/>
                </a:solidFill>
                <a:latin typeface="Arial" panose="020B0604020202020204" pitchFamily="34" charset="0"/>
              </a:rPr>
              <a:t>documentés</a:t>
            </a:r>
            <a:r>
              <a:rPr lang="fr-FR" altLang="fr-FR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nté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é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Facet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2637</TotalTime>
  <Words>2584</Words>
  <Application>Microsoft Office PowerPoint</Application>
  <PresentationFormat>Grand écran</PresentationFormat>
  <Paragraphs>282</Paragraphs>
  <Slides>18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Trebuchet MS</vt:lpstr>
      <vt:lpstr>Tw Cen MT</vt:lpstr>
      <vt:lpstr>Tw Cen MT Condensed</vt:lpstr>
      <vt:lpstr>Wingdings 3</vt:lpstr>
      <vt:lpstr>Intégral</vt:lpstr>
      <vt:lpstr>Facette</vt:lpstr>
      <vt:lpstr>Préparation de données pour Santé publique France (Open Food Facts)</vt:lpstr>
      <vt:lpstr>Contexte &amp; mission</vt:lpstr>
      <vt:lpstr>Données &amp; cible</vt:lpstr>
      <vt:lpstr>Pipeline de nettoyage (vue d’ensemble)</vt:lpstr>
      <vt:lpstr>Outliers — Application des règles métier</vt:lpstr>
      <vt:lpstr>Valeurs manquantes — Vue globale</vt:lpstr>
      <vt:lpstr>Répartition PNNS (après suppression des lignes très incomplètes)</vt:lpstr>
      <vt:lpstr>Valeurs manquantes — Co-occurrences</vt:lpstr>
      <vt:lpstr>Analyse univariée — Distributions clés</vt:lpstr>
      <vt:lpstr>Analyse bivariée — Numérique / Numérique</vt:lpstr>
      <vt:lpstr>Analyse bivariée — Numérique / Catégoriel</vt:lpstr>
      <vt:lpstr>Corrélations</vt:lpstr>
      <vt:lpstr>ACP — Éboulis des valeurs propres</vt:lpstr>
      <vt:lpstr>ACP — Cercles de corrélation</vt:lpstr>
      <vt:lpstr>ACP — Centroïdes PNNS (PC1–PC2)</vt:lpstr>
      <vt:lpstr>Observations &amp; faisabilité</vt:lpstr>
      <vt:lpstr>RGPD — Principes clés &amp; conformité du projet</vt:lpstr>
      <vt:lpstr>Conclusion &amp; prochaines étapes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Florent Gervain-Salgé</cp:lastModifiedBy>
  <cp:revision>15</cp:revision>
  <dcterms:created xsi:type="dcterms:W3CDTF">2013-01-27T09:14:16Z</dcterms:created>
  <dcterms:modified xsi:type="dcterms:W3CDTF">2025-10-09T14:12:23Z</dcterms:modified>
  <cp:category/>
</cp:coreProperties>
</file>